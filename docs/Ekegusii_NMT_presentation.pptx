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 NLLB-200</c:v>
                </c:pt>
              </c:strCache>
            </c:strRef>
          </c:tx>
          <c:spPr>
            <a:solidFill>
              <a:srgbClr val="C8CD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Sheet1!$B$2:$B$4</c:f>
              <c:numCache>
                <c:formatCode>General</c:formatCode>
                <c:ptCount val="3"/>
                <c:pt idx="0">
                  <c:v>14.56</c:v>
                </c:pt>
                <c:pt idx="1">
                  <c:v>14.88</c:v>
                </c:pt>
                <c:pt idx="2">
                  <c:v>11.41</c:v>
                </c:pt>
              </c:numCache>
            </c:numRef>
          </c:val>
          <c:extLst>
            <c:ext xmlns:c16="http://schemas.microsoft.com/office/drawing/2014/chart" uri="{C3380CC4-5D6E-409C-BE32-E72D297353CC}">
              <c16:uniqueId val="{00000000-8855-46B6-9323-B88522A8B0B0}"/>
            </c:ext>
          </c:extLst>
        </c:ser>
        <c:ser>
          <c:idx val="1"/>
          <c:order val="1"/>
          <c:tx>
            <c:strRef>
              <c:f>Sheet1!$C$1</c:f>
              <c:strCache>
                <c:ptCount val="1"/>
                <c:pt idx="0">
                  <c:v>Stage 1 (language only)</c:v>
                </c:pt>
              </c:strCache>
            </c:strRef>
          </c:tx>
          <c:spPr>
            <a:solidFill>
              <a:srgbClr val="9AA8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Sheet1!$C$2:$C$4</c:f>
              <c:numCache>
                <c:formatCode>General</c:formatCode>
                <c:ptCount val="3"/>
                <c:pt idx="0">
                  <c:v>23.96</c:v>
                </c:pt>
                <c:pt idx="1">
                  <c:v>49.66</c:v>
                </c:pt>
                <c:pt idx="2">
                  <c:v>28.97</c:v>
                </c:pt>
              </c:numCache>
            </c:numRef>
          </c:val>
          <c:extLst>
            <c:ext xmlns:c16="http://schemas.microsoft.com/office/drawing/2014/chart" uri="{C3380CC4-5D6E-409C-BE32-E72D297353CC}">
              <c16:uniqueId val="{00000001-8855-46B6-9323-B88522A8B0B0}"/>
            </c:ext>
          </c:extLst>
        </c:ser>
        <c:ser>
          <c:idx val="2"/>
          <c:order val="2"/>
          <c:tx>
            <c:strRef>
              <c:f>Sheet1!$D$1</c:f>
              <c:strCache>
                <c:ptCount val="1"/>
                <c:pt idx="0">
                  <c:v>Two-stage curriculum</c:v>
                </c:pt>
              </c:strCache>
            </c:strRef>
          </c:tx>
          <c:spPr>
            <a:solidFill>
              <a:srgbClr val="6C7FC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Sheet1!$D$2:$D$4</c:f>
              <c:numCache>
                <c:formatCode>General</c:formatCode>
                <c:ptCount val="3"/>
                <c:pt idx="0">
                  <c:v>34.93</c:v>
                </c:pt>
                <c:pt idx="1">
                  <c:v>48.95</c:v>
                </c:pt>
                <c:pt idx="2">
                  <c:v>29.37</c:v>
                </c:pt>
              </c:numCache>
            </c:numRef>
          </c:val>
          <c:extLst>
            <c:ext xmlns:c16="http://schemas.microsoft.com/office/drawing/2014/chart" uri="{C3380CC4-5D6E-409C-BE32-E72D297353CC}">
              <c16:uniqueId val="{00000002-8855-46B6-9323-B88522A8B0B0}"/>
            </c:ext>
          </c:extLst>
        </c:ser>
        <c:ser>
          <c:idx val="3"/>
          <c:order val="3"/>
          <c:tx>
            <c:strRef>
              <c:f>Sheet1!$E$1</c:f>
              <c:strCache>
                <c:ptCount val="1"/>
                <c:pt idx="0">
                  <c:v>Single pass (released)</c:v>
                </c:pt>
              </c:strCache>
            </c:strRef>
          </c:tx>
          <c:spPr>
            <a:solidFill>
              <a:srgbClr val="293D9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Real PSAs</c:v>
                </c:pt>
                <c:pt idx="1">
                  <c:v>Scripture</c:v>
                </c:pt>
                <c:pt idx="2">
                  <c:v>Everyday prose</c:v>
                </c:pt>
              </c:strCache>
            </c:strRef>
          </c:cat>
          <c:val>
            <c:numRef>
              <c:f>Sheet1!$E$2:$E$4</c:f>
              <c:numCache>
                <c:formatCode>General</c:formatCode>
                <c:ptCount val="3"/>
                <c:pt idx="0">
                  <c:v>40.97</c:v>
                </c:pt>
                <c:pt idx="1">
                  <c:v>49.81</c:v>
                </c:pt>
                <c:pt idx="2">
                  <c:v>32.979999999999997</c:v>
                </c:pt>
              </c:numCache>
            </c:numRef>
          </c:val>
          <c:extLst>
            <c:ext xmlns:c16="http://schemas.microsoft.com/office/drawing/2014/chart" uri="{C3380CC4-5D6E-409C-BE32-E72D297353CC}">
              <c16:uniqueId val="{00000003-8855-46B6-9323-B88522A8B0B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19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Stock NLLB-200</c:v>
                </c:pt>
              </c:strCache>
            </c:strRef>
          </c:tx>
          <c:spPr>
            <a:solidFill>
              <a:srgbClr val="C8CD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Sheet1!$B$2:$B$3</c:f>
              <c:numCache>
                <c:formatCode>General</c:formatCode>
                <c:ptCount val="2"/>
                <c:pt idx="0">
                  <c:v>14.13</c:v>
                </c:pt>
                <c:pt idx="1">
                  <c:v>14.65</c:v>
                </c:pt>
              </c:numCache>
            </c:numRef>
          </c:val>
          <c:extLst>
            <c:ext xmlns:c16="http://schemas.microsoft.com/office/drawing/2014/chart" uri="{C3380CC4-5D6E-409C-BE32-E72D297353CC}">
              <c16:uniqueId val="{00000000-5736-4C3B-B4A4-ADF84893408E}"/>
            </c:ext>
          </c:extLst>
        </c:ser>
        <c:ser>
          <c:idx val="1"/>
          <c:order val="1"/>
          <c:tx>
            <c:strRef>
              <c:f>Sheet1!$C$1</c:f>
              <c:strCache>
                <c:ptCount val="1"/>
                <c:pt idx="0">
                  <c:v>Stage 1 (language only)</c:v>
                </c:pt>
              </c:strCache>
            </c:strRef>
          </c:tx>
          <c:spPr>
            <a:solidFill>
              <a:srgbClr val="9AA8D8"/>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Sheet1!$C$2:$C$3</c:f>
              <c:numCache>
                <c:formatCode>General</c:formatCode>
                <c:ptCount val="2"/>
                <c:pt idx="0">
                  <c:v>24.49</c:v>
                </c:pt>
                <c:pt idx="1">
                  <c:v>49.11</c:v>
                </c:pt>
              </c:numCache>
            </c:numRef>
          </c:val>
          <c:extLst>
            <c:ext xmlns:c16="http://schemas.microsoft.com/office/drawing/2014/chart" uri="{C3380CC4-5D6E-409C-BE32-E72D297353CC}">
              <c16:uniqueId val="{00000001-5736-4C3B-B4A4-ADF84893408E}"/>
            </c:ext>
          </c:extLst>
        </c:ser>
        <c:ser>
          <c:idx val="2"/>
          <c:order val="2"/>
          <c:tx>
            <c:strRef>
              <c:f>Sheet1!$D$1</c:f>
              <c:strCache>
                <c:ptCount val="1"/>
                <c:pt idx="0">
                  <c:v>Two-stage curriculum</c:v>
                </c:pt>
              </c:strCache>
            </c:strRef>
          </c:tx>
          <c:spPr>
            <a:solidFill>
              <a:srgbClr val="6C7FC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Sheet1!$D$2:$D$3</c:f>
              <c:numCache>
                <c:formatCode>General</c:formatCode>
                <c:ptCount val="2"/>
                <c:pt idx="0">
                  <c:v>34.5</c:v>
                </c:pt>
                <c:pt idx="1">
                  <c:v>48.8</c:v>
                </c:pt>
              </c:numCache>
            </c:numRef>
          </c:val>
          <c:extLst>
            <c:ext xmlns:c16="http://schemas.microsoft.com/office/drawing/2014/chart" uri="{C3380CC4-5D6E-409C-BE32-E72D297353CC}">
              <c16:uniqueId val="{00000002-5736-4C3B-B4A4-ADF84893408E}"/>
            </c:ext>
          </c:extLst>
        </c:ser>
        <c:ser>
          <c:idx val="3"/>
          <c:order val="3"/>
          <c:tx>
            <c:strRef>
              <c:f>Sheet1!$E$1</c:f>
              <c:strCache>
                <c:ptCount val="1"/>
                <c:pt idx="0">
                  <c:v>Single pass (released)</c:v>
                </c:pt>
              </c:strCache>
            </c:strRef>
          </c:tx>
          <c:spPr>
            <a:solidFill>
              <a:srgbClr val="293D94"/>
            </a:solidFill>
            <a:effectLst/>
          </c:spPr>
          <c:invertIfNegative val="0"/>
          <c:dLbls>
            <c:numFmt formatCode="0.0" sourceLinked="0"/>
            <c:spPr>
              <a:noFill/>
              <a:ln>
                <a:noFill/>
              </a:ln>
              <a:effectLst/>
            </c:spPr>
            <c:txPr>
              <a:bodyPr/>
              <a:lstStyle/>
              <a:p>
                <a:pPr>
                  <a:defRPr sz="900" b="0" i="0" u="none" strike="noStrike">
                    <a:solidFill>
                      <a:srgbClr val="4B556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Real PSAs</c:v>
                </c:pt>
                <c:pt idx="1">
                  <c:v>Scripture</c:v>
                </c:pt>
              </c:strCache>
            </c:strRef>
          </c:cat>
          <c:val>
            <c:numRef>
              <c:f>Sheet1!$E$2:$E$3</c:f>
              <c:numCache>
                <c:formatCode>General</c:formatCode>
                <c:ptCount val="2"/>
                <c:pt idx="0">
                  <c:v>39.61</c:v>
                </c:pt>
                <c:pt idx="1">
                  <c:v>49.3</c:v>
                </c:pt>
              </c:numCache>
            </c:numRef>
          </c:val>
          <c:extLst>
            <c:ext xmlns:c16="http://schemas.microsoft.com/office/drawing/2014/chart" uri="{C3380CC4-5D6E-409C-BE32-E72D297353CC}">
              <c16:uniqueId val="{00000003-5736-4C3B-B4A4-ADF84893408E}"/>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4B5563"/>
                </a:solidFill>
                <a:latin typeface="Arial"/>
              </a:defRPr>
            </a:pPr>
            <a:endParaRPr lang="en-US"/>
          </a:p>
        </c:txPr>
        <c:crossAx val="2094734552"/>
        <c:crosses val="autoZero"/>
        <c:auto val="1"/>
        <c:lblAlgn val="ctr"/>
        <c:lblOffset val="100"/>
        <c:noMultiLvlLbl val="1"/>
      </c:catAx>
      <c:valAx>
        <c:axId val="2094734552"/>
        <c:scaling>
          <c:orientation val="minMax"/>
          <c:max val="60"/>
          <c:min val="0"/>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19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1446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Ekegusii, also called Kisii, is spoken by about 2.7 million people in south-western Kenya. NLLB-200 covers 200 languages and Ekegusii is not one of them. This project adds it and adapts the model to the register of public service announcements.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this is not 'the translation is poor'. The language is absent from the model's vocabulary. Nothing can be generated at all until the vocabulary is extended.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 4 is the one that produced the interesting result, and it is the one that did not go as planned.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how much data: 62,669 unique parallel sentence pairs. Not 80,000 - that figure counts the PSA data four times. Storybooks are in the repository but reached the corpus after training, so do not claim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to slow down on. It is the honest statement of what the model cannot be expected to do well, and it was known before any GPU time was spent.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Kikuyu: it is the nearest Kenyan Bantu language in NLLB. Not the nearest genetically — Ekegusii is in a different subgroup — but the nearest available, and the honest framing is 'best available proxy'.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all three runs share initialisation, data, hyperparameters and seed. Only the ordering differs.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question 'why not BLEU'. The answer is morphology. Also mention COMET was not used because it has no Ekegusii coverage — its encoder has never seen the language, so its scores would be meaningless here.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GPU was shared. A large part of the engineering effort went into surviving that: waiting for memory, recovering from OOM, and checkpointing so an interrupted run was not a lost 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within a panel, not across. The released model is the darkest bar and it is highest everywhere. Kiswahili has no everyday-prose column because the Lughayangu corpus is English-Ekegusii only - say that before someone asks.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this table aloud. It is here so the panel can check any number they want, and so the report can quote it. Point at the released column and move 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bury this. It is the most defensible finding in the project, because it is the one the experiment was designed to be able to disprove. The released model is the control.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Kiswahili direction: 39.61 released against 34.50 curriculum, same story.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human-evaluation gap out loud before anyone asks. The demo's correction form is the mechanism for closing 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demo already open in a browser tab before this slide. Do not start it live.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control point. It is the methodological contribution and the thing that distinguishes this from a fine-tuning exercise.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93D94"/>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0080" y="566928"/>
            <a:ext cx="1115568" cy="566928"/>
          </a:xfrm>
          <a:prstGeom prst="rect">
            <a:avLst/>
          </a:prstGeom>
        </p:spPr>
      </p:pic>
      <p:sp>
        <p:nvSpPr>
          <p:cNvPr id="3" name="Shape 0"/>
          <p:cNvSpPr/>
          <p:nvPr/>
        </p:nvSpPr>
        <p:spPr>
          <a:xfrm>
            <a:off x="640080" y="502920"/>
            <a:ext cx="1225296" cy="694944"/>
          </a:xfrm>
          <a:prstGeom prst="rect">
            <a:avLst/>
          </a:prstGeom>
          <a:solidFill>
            <a:srgbClr val="FFFFFF"/>
          </a:solidFill>
          <a:ln w="12700">
            <a:solidFill>
              <a:srgbClr val="FFFFFF"/>
            </a:solidFill>
            <a:prstDash val="solid"/>
          </a:ln>
        </p:spPr>
      </p:sp>
      <p:pic>
        <p:nvPicPr>
          <p:cNvPr id="4" name="Image 1" descr="preencoded.png"/>
          <p:cNvPicPr>
            <a:picLocks noChangeAspect="1"/>
          </p:cNvPicPr>
          <p:nvPr/>
        </p:nvPicPr>
        <p:blipFill>
          <a:blip r:embed="rId3"/>
          <a:stretch>
            <a:fillRect/>
          </a:stretch>
        </p:blipFill>
        <p:spPr>
          <a:xfrm>
            <a:off x="694944" y="566928"/>
            <a:ext cx="1115568" cy="566928"/>
          </a:xfrm>
          <a:prstGeom prst="rect">
            <a:avLst/>
          </a:prstGeom>
        </p:spPr>
      </p:pic>
      <p:sp>
        <p:nvSpPr>
          <p:cNvPr id="5" name="Text 1"/>
          <p:cNvSpPr/>
          <p:nvPr/>
        </p:nvSpPr>
        <p:spPr>
          <a:xfrm>
            <a:off x="640080" y="1783080"/>
            <a:ext cx="9692640" cy="1737360"/>
          </a:xfrm>
          <a:prstGeom prst="rect">
            <a:avLst/>
          </a:prstGeom>
          <a:noFill/>
          <a:ln/>
        </p:spPr>
        <p:txBody>
          <a:bodyPr wrap="square" lIns="0" tIns="0" rIns="0" bIns="0" rtlCol="0" anchor="ctr"/>
          <a:lstStyle/>
          <a:p>
            <a:pPr marL="0" indent="0">
              <a:lnSpc>
                <a:spcPct val="106000"/>
              </a:lnSpc>
              <a:buNone/>
            </a:pPr>
            <a:r>
              <a:rPr lang="en-US" sz="4000" b="1" dirty="0">
                <a:solidFill>
                  <a:srgbClr val="FFFFFF"/>
                </a:solidFill>
                <a:latin typeface="Cambria" pitchFamily="34" charset="0"/>
                <a:ea typeface="Cambria" pitchFamily="34" charset="-122"/>
                <a:cs typeface="Cambria" pitchFamily="34" charset="-120"/>
              </a:rPr>
              <a:t>Teaching a Translation Model a Language It Never Knew</a:t>
            </a:r>
            <a:endParaRPr lang="en-US" sz="4000" dirty="0"/>
          </a:p>
        </p:txBody>
      </p:sp>
      <p:sp>
        <p:nvSpPr>
          <p:cNvPr id="6" name="Text 2"/>
          <p:cNvSpPr/>
          <p:nvPr/>
        </p:nvSpPr>
        <p:spPr>
          <a:xfrm>
            <a:off x="640080" y="3611880"/>
            <a:ext cx="9326880" cy="731520"/>
          </a:xfrm>
          <a:prstGeom prst="rect">
            <a:avLst/>
          </a:prstGeom>
          <a:noFill/>
          <a:ln/>
        </p:spPr>
        <p:txBody>
          <a:bodyPr wrap="square" lIns="0" tIns="0" rIns="0" bIns="0" rtlCol="0" anchor="ctr"/>
          <a:lstStyle/>
          <a:p>
            <a:pPr marL="0" indent="0">
              <a:lnSpc>
                <a:spcPct val="110000"/>
              </a:lnSpc>
              <a:buNone/>
            </a:pPr>
            <a:r>
              <a:rPr lang="en-US" sz="1700" dirty="0">
                <a:solidFill>
                  <a:srgbClr val="C9D2F0"/>
                </a:solidFill>
                <a:latin typeface="Calibri" pitchFamily="34" charset="0"/>
                <a:ea typeface="Calibri" pitchFamily="34" charset="-122"/>
                <a:cs typeface="Calibri" pitchFamily="34" charset="-120"/>
              </a:rPr>
              <a:t>Fine-tuning NLLB-200 to add Ekegusii and adapt it to Kenyan public service announcements</a:t>
            </a:r>
            <a:endParaRPr lang="en-US" sz="1700" dirty="0"/>
          </a:p>
        </p:txBody>
      </p:sp>
      <p:sp>
        <p:nvSpPr>
          <p:cNvPr id="7" name="Shape 3"/>
          <p:cNvSpPr/>
          <p:nvPr/>
        </p:nvSpPr>
        <p:spPr>
          <a:xfrm>
            <a:off x="640080" y="4617720"/>
            <a:ext cx="1371600" cy="50292"/>
          </a:xfrm>
          <a:prstGeom prst="rect">
            <a:avLst/>
          </a:prstGeom>
          <a:solidFill>
            <a:srgbClr val="FFCA08"/>
          </a:solidFill>
          <a:ln w="12700">
            <a:solidFill>
              <a:srgbClr val="FFCA08"/>
            </a:solidFill>
            <a:prstDash val="solid"/>
          </a:ln>
        </p:spPr>
      </p:sp>
      <p:sp>
        <p:nvSpPr>
          <p:cNvPr id="8" name="Text 4"/>
          <p:cNvSpPr/>
          <p:nvPr/>
        </p:nvSpPr>
        <p:spPr>
          <a:xfrm>
            <a:off x="640080" y="4882896"/>
            <a:ext cx="10881360" cy="310896"/>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Weldesenbet Zeray  ·  Samuel Abrha  ·  Hetal Kumbharana  ·  Halima Mohammed  ·  Peter Kidiga  ·  Mitchelle Moraa</a:t>
            </a:r>
            <a:endParaRPr lang="en-US" sz="1350" dirty="0"/>
          </a:p>
        </p:txBody>
      </p:sp>
      <p:sp>
        <p:nvSpPr>
          <p:cNvPr id="9" name="Text 5"/>
          <p:cNvSpPr/>
          <p:nvPr/>
        </p:nvSpPr>
        <p:spPr>
          <a:xfrm>
            <a:off x="640080" y="5212080"/>
            <a:ext cx="10881360" cy="274320"/>
          </a:xfrm>
          <a:prstGeom prst="rect">
            <a:avLst/>
          </a:prstGeom>
          <a:noFill/>
          <a:ln/>
        </p:spPr>
        <p:txBody>
          <a:bodyPr wrap="square" lIns="0" tIns="0" rIns="0" bIns="0" rtlCol="0" anchor="ctr"/>
          <a:lstStyle/>
          <a:p>
            <a:pPr marL="0" indent="0">
              <a:buNone/>
            </a:pPr>
            <a:r>
              <a:rPr lang="en-US" sz="1300" dirty="0">
                <a:solidFill>
                  <a:srgbClr val="C9D2F0"/>
                </a:solidFill>
                <a:latin typeface="Calibri" pitchFamily="34" charset="0"/>
                <a:ea typeface="Calibri" pitchFamily="34" charset="-122"/>
                <a:cs typeface="Calibri" pitchFamily="34" charset="-120"/>
              </a:rPr>
              <a:t>Supervisor: Prof. Edward Ombui</a:t>
            </a:r>
            <a:endParaRPr lang="en-US" sz="1300" dirty="0"/>
          </a:p>
        </p:txBody>
      </p:sp>
      <p:sp>
        <p:nvSpPr>
          <p:cNvPr id="10" name="Text 6"/>
          <p:cNvSpPr/>
          <p:nvPr/>
        </p:nvSpPr>
        <p:spPr>
          <a:xfrm>
            <a:off x="640080" y="5504688"/>
            <a:ext cx="10881360" cy="274320"/>
          </a:xfrm>
          <a:prstGeom prst="rect">
            <a:avLst/>
          </a:prstGeom>
          <a:noFill/>
          <a:ln/>
        </p:spPr>
        <p:txBody>
          <a:bodyPr wrap="square" lIns="0" tIns="0" rIns="0" bIns="0" rtlCol="0" anchor="ctr"/>
          <a:lstStyle/>
          <a:p>
            <a:pPr marL="0" indent="0">
              <a:buNone/>
            </a:pPr>
            <a:r>
              <a:rPr lang="en-US" sz="1200" dirty="0">
                <a:solidFill>
                  <a:srgbClr val="9AA8D8"/>
                </a:solidFill>
                <a:latin typeface="Calibri" pitchFamily="34" charset="0"/>
                <a:ea typeface="Calibri" pitchFamily="34" charset="-122"/>
                <a:cs typeface="Calibri" pitchFamily="34" charset="-120"/>
              </a:rPr>
              <a:t>Natural Language Processing · School of Science and Technology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 model for 200 languages, and Ekegusii is not one of them</a:t>
            </a:r>
            <a:endParaRPr lang="en-US" sz="3000" dirty="0"/>
          </a:p>
        </p:txBody>
      </p:sp>
      <p:sp>
        <p:nvSpPr>
          <p:cNvPr id="4" name="Text 2"/>
          <p:cNvSpPr/>
          <p:nvPr/>
        </p:nvSpPr>
        <p:spPr>
          <a:xfrm>
            <a:off x="640080" y="1691640"/>
            <a:ext cx="274320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200</a:t>
            </a:r>
            <a:endParaRPr lang="en-US" sz="4600" dirty="0"/>
          </a:p>
        </p:txBody>
      </p:sp>
      <p:sp>
        <p:nvSpPr>
          <p:cNvPr id="5" name="Text 3"/>
          <p:cNvSpPr/>
          <p:nvPr/>
        </p:nvSpPr>
        <p:spPr>
          <a:xfrm>
            <a:off x="640080" y="2313432"/>
            <a:ext cx="274320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languages supported by NLLB-200</a:t>
            </a:r>
            <a:endParaRPr lang="en-US" sz="1150" dirty="0"/>
          </a:p>
        </p:txBody>
      </p:sp>
      <p:sp>
        <p:nvSpPr>
          <p:cNvPr id="6" name="Text 4"/>
          <p:cNvSpPr/>
          <p:nvPr/>
        </p:nvSpPr>
        <p:spPr>
          <a:xfrm>
            <a:off x="3749040" y="1691640"/>
            <a:ext cx="2743200" cy="658368"/>
          </a:xfrm>
          <a:prstGeom prst="rect">
            <a:avLst/>
          </a:prstGeom>
          <a:noFill/>
          <a:ln/>
        </p:spPr>
        <p:txBody>
          <a:bodyPr wrap="square" lIns="0" tIns="0" rIns="0" bIns="0" rtlCol="0" anchor="ctr"/>
          <a:lstStyle/>
          <a:p>
            <a:pPr marL="0" indent="0">
              <a:buNone/>
            </a:pPr>
            <a:r>
              <a:rPr lang="en-US" sz="4600" b="1" dirty="0">
                <a:solidFill>
                  <a:srgbClr val="B23B3A"/>
                </a:solidFill>
                <a:latin typeface="Calibri" pitchFamily="34" charset="0"/>
                <a:ea typeface="Calibri" pitchFamily="34" charset="-122"/>
                <a:cs typeface="Calibri" pitchFamily="34" charset="-120"/>
              </a:rPr>
              <a:t>0</a:t>
            </a:r>
            <a:endParaRPr lang="en-US" sz="4600" dirty="0"/>
          </a:p>
        </p:txBody>
      </p:sp>
      <p:sp>
        <p:nvSpPr>
          <p:cNvPr id="7" name="Text 5"/>
          <p:cNvSpPr/>
          <p:nvPr/>
        </p:nvSpPr>
        <p:spPr>
          <a:xfrm>
            <a:off x="3749040" y="2313432"/>
            <a:ext cx="274320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of them are Ekegusii</a:t>
            </a:r>
            <a:endParaRPr lang="en-US" sz="1150" dirty="0"/>
          </a:p>
        </p:txBody>
      </p:sp>
      <p:sp>
        <p:nvSpPr>
          <p:cNvPr id="8" name="Text 6"/>
          <p:cNvSpPr/>
          <p:nvPr/>
        </p:nvSpPr>
        <p:spPr>
          <a:xfrm>
            <a:off x="6858000" y="1691640"/>
            <a:ext cx="329184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2.7</a:t>
            </a:r>
            <a:r>
              <a:rPr lang="en-US" sz="1700" b="1" dirty="0">
                <a:solidFill>
                  <a:srgbClr val="293D94"/>
                </a:solidFill>
                <a:latin typeface="Calibri" pitchFamily="34" charset="0"/>
                <a:ea typeface="Calibri" pitchFamily="34" charset="-122"/>
                <a:cs typeface="Calibri" pitchFamily="34" charset="-120"/>
              </a:rPr>
              <a:t> million</a:t>
            </a:r>
            <a:endParaRPr lang="en-US" sz="4600" dirty="0"/>
          </a:p>
        </p:txBody>
      </p:sp>
      <p:sp>
        <p:nvSpPr>
          <p:cNvPr id="9" name="Text 7"/>
          <p:cNvSpPr/>
          <p:nvPr/>
        </p:nvSpPr>
        <p:spPr>
          <a:xfrm>
            <a:off x="6858000" y="2313432"/>
            <a:ext cx="329184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Ekegusii speakers in Kenya</a:t>
            </a:r>
            <a:endParaRPr lang="en-US" sz="1150" dirty="0"/>
          </a:p>
        </p:txBody>
      </p:sp>
      <p:sp>
        <p:nvSpPr>
          <p:cNvPr id="10" name="Shape 8"/>
          <p:cNvSpPr/>
          <p:nvPr/>
        </p:nvSpPr>
        <p:spPr>
          <a:xfrm>
            <a:off x="640080" y="3200400"/>
            <a:ext cx="10881360" cy="1143000"/>
          </a:xfrm>
          <a:prstGeom prst="roundRect">
            <a:avLst>
              <a:gd name="adj" fmla="val 7200"/>
            </a:avLst>
          </a:prstGeom>
          <a:solidFill>
            <a:srgbClr val="F1F3F9"/>
          </a:solidFill>
          <a:ln w="12700">
            <a:solidFill>
              <a:srgbClr val="F1F3F9"/>
            </a:solidFill>
            <a:prstDash val="solid"/>
          </a:ln>
        </p:spPr>
      </p:sp>
      <p:sp>
        <p:nvSpPr>
          <p:cNvPr id="11" name="Shape 9"/>
          <p:cNvSpPr/>
          <p:nvPr/>
        </p:nvSpPr>
        <p:spPr>
          <a:xfrm>
            <a:off x="877824" y="3438144"/>
            <a:ext cx="402336" cy="402336"/>
          </a:xfrm>
          <a:prstGeom prst="ellipse">
            <a:avLst/>
          </a:prstGeom>
          <a:solidFill>
            <a:srgbClr val="FFCA08"/>
          </a:solidFill>
          <a:ln w="12700">
            <a:solidFill>
              <a:srgbClr val="FFCA08"/>
            </a:solidFill>
            <a:prstDash val="solid"/>
          </a:ln>
        </p:spPr>
      </p:sp>
      <p:sp>
        <p:nvSpPr>
          <p:cNvPr id="12" name="Text 10"/>
          <p:cNvSpPr/>
          <p:nvPr/>
        </p:nvSpPr>
        <p:spPr>
          <a:xfrm>
            <a:off x="877824" y="343814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1426464" y="341985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This is not a quality problem: it is an absence</a:t>
            </a:r>
            <a:endParaRPr lang="en-US" sz="1500" dirty="0"/>
          </a:p>
        </p:txBody>
      </p:sp>
      <p:sp>
        <p:nvSpPr>
          <p:cNvPr id="14" name="Text 12"/>
          <p:cNvSpPr/>
          <p:nvPr/>
        </p:nvSpPr>
        <p:spPr>
          <a:xfrm>
            <a:off x="1426464" y="3749040"/>
            <a:ext cx="9820656" cy="3931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model has no token for Ekegusii, so it cannot be asked for it at all. Ask NLLB for the nearest language it does know, Kikuyu, and you score 14.6 chrF2++, the floor this project has to beat.</a:t>
            </a:r>
            <a:endParaRPr lang="en-US" sz="1250" dirty="0"/>
          </a:p>
        </p:txBody>
      </p:sp>
      <p:sp>
        <p:nvSpPr>
          <p:cNvPr id="15" name="Shape 13"/>
          <p:cNvSpPr/>
          <p:nvPr/>
        </p:nvSpPr>
        <p:spPr>
          <a:xfrm>
            <a:off x="640080" y="4572000"/>
            <a:ext cx="10881360" cy="1325880"/>
          </a:xfrm>
          <a:prstGeom prst="roundRect">
            <a:avLst>
              <a:gd name="adj" fmla="val 6207"/>
            </a:avLst>
          </a:prstGeom>
          <a:solidFill>
            <a:srgbClr val="FFF7DE"/>
          </a:solidFill>
          <a:ln w="12700">
            <a:solidFill>
              <a:srgbClr val="FFF7DE"/>
            </a:solidFill>
            <a:prstDash val="solid"/>
          </a:ln>
        </p:spPr>
      </p:sp>
      <p:sp>
        <p:nvSpPr>
          <p:cNvPr id="16" name="Text 14"/>
          <p:cNvSpPr/>
          <p:nvPr/>
        </p:nvSpPr>
        <p:spPr>
          <a:xfrm>
            <a:off x="914400" y="4791456"/>
            <a:ext cx="1033272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public service announcements</a:t>
            </a:r>
            <a:endParaRPr lang="en-US" sz="1500" dirty="0"/>
          </a:p>
        </p:txBody>
      </p:sp>
      <p:sp>
        <p:nvSpPr>
          <p:cNvPr id="17" name="Text 15"/>
          <p:cNvSpPr/>
          <p:nvPr/>
        </p:nvSpPr>
        <p:spPr>
          <a:xfrm>
            <a:off x="914400" y="5120640"/>
            <a:ext cx="10332720" cy="5760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Cholera advisories, HELB loan deadlines, KRA filing dates, NTSA road-safety notices. These are issued in English and Kiswahili. A Kenyan who reads Ekegusii most comfortably receives health and legal information in a second or third language, or not at all.</a:t>
            </a:r>
            <a:endParaRPr lang="en-US" sz="1250" dirty="0"/>
          </a:p>
        </p:txBody>
      </p:sp>
      <p:sp>
        <p:nvSpPr>
          <p:cNvPr id="18" name="Text 16"/>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7"/>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OBJECTIVES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project set out to do</a:t>
            </a:r>
            <a:endParaRPr lang="en-US" sz="3000" dirty="0"/>
          </a:p>
        </p:txBody>
      </p:sp>
      <p:sp>
        <p:nvSpPr>
          <p:cNvPr id="4" name="Shape 2"/>
          <p:cNvSpPr/>
          <p:nvPr/>
        </p:nvSpPr>
        <p:spPr>
          <a:xfrm>
            <a:off x="640080" y="1691640"/>
            <a:ext cx="5303520" cy="1298448"/>
          </a:xfrm>
          <a:prstGeom prst="roundRect">
            <a:avLst>
              <a:gd name="adj" fmla="val 6338"/>
            </a:avLst>
          </a:prstGeom>
          <a:solidFill>
            <a:srgbClr val="F1F3F9"/>
          </a:solidFill>
          <a:ln w="12700">
            <a:solidFill>
              <a:srgbClr val="F1F3F9"/>
            </a:solidFill>
            <a:prstDash val="solid"/>
          </a:ln>
        </p:spPr>
      </p:sp>
      <p:sp>
        <p:nvSpPr>
          <p:cNvPr id="5" name="Shape 3"/>
          <p:cNvSpPr/>
          <p:nvPr/>
        </p:nvSpPr>
        <p:spPr>
          <a:xfrm>
            <a:off x="877824" y="192938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2646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Add Ekegusii by transfer learning</a:t>
            </a:r>
            <a:endParaRPr lang="en-US" sz="1500" dirty="0"/>
          </a:p>
        </p:txBody>
      </p:sp>
      <p:sp>
        <p:nvSpPr>
          <p:cNvPr id="8" name="Text 6"/>
          <p:cNvSpPr/>
          <p:nvPr/>
        </p:nvSpPr>
        <p:spPr>
          <a:xfrm>
            <a:off x="1426464" y="2240280"/>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Extend the tokenizer with guz_Latn and transfer what NLLB already knows about related Bantu languages into it, rather than initialising from noise.</a:t>
            </a:r>
            <a:endParaRPr lang="en-US" sz="1250" dirty="0"/>
          </a:p>
        </p:txBody>
      </p:sp>
      <p:sp>
        <p:nvSpPr>
          <p:cNvPr id="9" name="Shape 7"/>
          <p:cNvSpPr/>
          <p:nvPr/>
        </p:nvSpPr>
        <p:spPr>
          <a:xfrm>
            <a:off x="6217920" y="1691640"/>
            <a:ext cx="5303520" cy="1298448"/>
          </a:xfrm>
          <a:prstGeom prst="roundRect">
            <a:avLst>
              <a:gd name="adj" fmla="val 6338"/>
            </a:avLst>
          </a:prstGeom>
          <a:solidFill>
            <a:srgbClr val="F1F3F9"/>
          </a:solidFill>
          <a:ln w="12700">
            <a:solidFill>
              <a:srgbClr val="F1F3F9"/>
            </a:solidFill>
            <a:prstDash val="solid"/>
          </a:ln>
        </p:spPr>
      </p:sp>
      <p:sp>
        <p:nvSpPr>
          <p:cNvPr id="10" name="Shape 8"/>
          <p:cNvSpPr/>
          <p:nvPr/>
        </p:nvSpPr>
        <p:spPr>
          <a:xfrm>
            <a:off x="6455664" y="192938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700430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Build a parallel corpus</a:t>
            </a:r>
            <a:endParaRPr lang="en-US" sz="1500" dirty="0"/>
          </a:p>
        </p:txBody>
      </p:sp>
      <p:sp>
        <p:nvSpPr>
          <p:cNvPr id="13" name="Text 11"/>
          <p:cNvSpPr/>
          <p:nvPr/>
        </p:nvSpPr>
        <p:spPr>
          <a:xfrm>
            <a:off x="7004304" y="2240280"/>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No Ekegusii MT corpus existed. Align scripture, storybooks and contemporary sentences into English–Ekegusii–Kiswahili triples.</a:t>
            </a:r>
            <a:endParaRPr lang="en-US" sz="1250" dirty="0"/>
          </a:p>
        </p:txBody>
      </p:sp>
      <p:sp>
        <p:nvSpPr>
          <p:cNvPr id="14" name="Shape 12"/>
          <p:cNvSpPr/>
          <p:nvPr/>
        </p:nvSpPr>
        <p:spPr>
          <a:xfrm>
            <a:off x="640080" y="3172968"/>
            <a:ext cx="5303520" cy="1298448"/>
          </a:xfrm>
          <a:prstGeom prst="roundRect">
            <a:avLst>
              <a:gd name="adj" fmla="val 6338"/>
            </a:avLst>
          </a:prstGeom>
          <a:solidFill>
            <a:srgbClr val="F1F3F9"/>
          </a:solidFill>
          <a:ln w="12700">
            <a:solidFill>
              <a:srgbClr val="F1F3F9"/>
            </a:solidFill>
            <a:prstDash val="solid"/>
          </a:ln>
        </p:spPr>
      </p:sp>
      <p:sp>
        <p:nvSpPr>
          <p:cNvPr id="15" name="Shape 13"/>
          <p:cNvSpPr/>
          <p:nvPr/>
        </p:nvSpPr>
        <p:spPr>
          <a:xfrm>
            <a:off x="877824" y="3410712"/>
            <a:ext cx="402336" cy="402336"/>
          </a:xfrm>
          <a:prstGeom prst="ellipse">
            <a:avLst/>
          </a:prstGeom>
          <a:solidFill>
            <a:srgbClr val="293D94"/>
          </a:solidFill>
          <a:ln w="12700">
            <a:solidFill>
              <a:srgbClr val="293D94"/>
            </a:solidFill>
            <a:prstDash val="solid"/>
          </a:ln>
        </p:spPr>
      </p:sp>
      <p:sp>
        <p:nvSpPr>
          <p:cNvPr id="16" name="Text 14"/>
          <p:cNvSpPr/>
          <p:nvPr/>
        </p:nvSpPr>
        <p:spPr>
          <a:xfrm>
            <a:off x="877824" y="341071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426464" y="339242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Adapt to PSA register</a:t>
            </a:r>
            <a:endParaRPr lang="en-US" sz="1500" dirty="0"/>
          </a:p>
        </p:txBody>
      </p:sp>
      <p:sp>
        <p:nvSpPr>
          <p:cNvPr id="18" name="Text 16"/>
          <p:cNvSpPr/>
          <p:nvPr/>
        </p:nvSpPr>
        <p:spPr>
          <a:xfrm>
            <a:off x="1426464" y="3721608"/>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Scripture teaches the language but not the voice of a government notice. Use real Kenyan PSAs to close that gap.</a:t>
            </a:r>
            <a:endParaRPr lang="en-US" sz="1250" dirty="0"/>
          </a:p>
        </p:txBody>
      </p:sp>
      <p:sp>
        <p:nvSpPr>
          <p:cNvPr id="19" name="Shape 17"/>
          <p:cNvSpPr/>
          <p:nvPr/>
        </p:nvSpPr>
        <p:spPr>
          <a:xfrm>
            <a:off x="6217920" y="3172968"/>
            <a:ext cx="5303520" cy="1298448"/>
          </a:xfrm>
          <a:prstGeom prst="roundRect">
            <a:avLst>
              <a:gd name="adj" fmla="val 6338"/>
            </a:avLst>
          </a:prstGeom>
          <a:solidFill>
            <a:srgbClr val="F1F3F9"/>
          </a:solidFill>
          <a:ln w="12700">
            <a:solidFill>
              <a:srgbClr val="F1F3F9"/>
            </a:solidFill>
            <a:prstDash val="solid"/>
          </a:ln>
        </p:spPr>
      </p:sp>
      <p:sp>
        <p:nvSpPr>
          <p:cNvPr id="20" name="Shape 18"/>
          <p:cNvSpPr/>
          <p:nvPr/>
        </p:nvSpPr>
        <p:spPr>
          <a:xfrm>
            <a:off x="6455664" y="3410712"/>
            <a:ext cx="402336" cy="402336"/>
          </a:xfrm>
          <a:prstGeom prst="ellipse">
            <a:avLst/>
          </a:prstGeom>
          <a:solidFill>
            <a:srgbClr val="293D94"/>
          </a:solidFill>
          <a:ln w="12700">
            <a:solidFill>
              <a:srgbClr val="293D94"/>
            </a:solidFill>
            <a:prstDash val="solid"/>
          </a:ln>
        </p:spPr>
      </p:sp>
      <p:sp>
        <p:nvSpPr>
          <p:cNvPr id="21" name="Text 19"/>
          <p:cNvSpPr/>
          <p:nvPr/>
        </p:nvSpPr>
        <p:spPr>
          <a:xfrm>
            <a:off x="6455664" y="341071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7004304" y="339242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Test a curriculum hypothesis</a:t>
            </a:r>
            <a:endParaRPr lang="en-US" sz="1500" dirty="0"/>
          </a:p>
        </p:txBody>
      </p:sp>
      <p:sp>
        <p:nvSpPr>
          <p:cNvPr id="23" name="Text 21"/>
          <p:cNvSpPr/>
          <p:nvPr/>
        </p:nvSpPr>
        <p:spPr>
          <a:xfrm>
            <a:off x="7004304" y="3721608"/>
            <a:ext cx="4242816" cy="548640"/>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Does learning the language first, then the register, beat training on everything at once? Run the control that can falsify it.</a:t>
            </a:r>
            <a:endParaRPr lang="en-US" sz="1250" dirty="0"/>
          </a:p>
        </p:txBody>
      </p:sp>
      <p:sp>
        <p:nvSpPr>
          <p:cNvPr id="24" name="Text 22"/>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5" name="Text 23"/>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DATA</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model actually trained on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2305881487"/>
              </p:ext>
            </p:extLst>
          </p:nvPr>
        </p:nvGraphicFramePr>
        <p:xfrm>
          <a:off x="640080" y="1554480"/>
          <a:ext cx="6858000" cy="2560320"/>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320040">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Source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Direction</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Pairs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Ekegusii Bible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28,439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Ekegusii Bible</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Kiswahili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28,482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Lughayangu everyday sentences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111</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Duplicates removed</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-55</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Kenyan PSAs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English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3,509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0040">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Kenyan PSAs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Kiswahili to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2,183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0040">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Total unique training pairs</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62,669</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Shape 2"/>
          <p:cNvSpPr/>
          <p:nvPr/>
        </p:nvSpPr>
        <p:spPr>
          <a:xfrm>
            <a:off x="7772400" y="1627632"/>
            <a:ext cx="3749040" cy="1508760"/>
          </a:xfrm>
          <a:prstGeom prst="roundRect">
            <a:avLst>
              <a:gd name="adj" fmla="val 5455"/>
            </a:avLst>
          </a:prstGeom>
          <a:solidFill>
            <a:srgbClr val="FFF7DE"/>
          </a:solidFill>
          <a:ln w="12700">
            <a:solidFill>
              <a:srgbClr val="FFF7DE"/>
            </a:solidFill>
            <a:prstDash val="solid"/>
          </a:ln>
        </p:spPr>
      </p:sp>
      <p:sp>
        <p:nvSpPr>
          <p:cNvPr id="6" name="Shape 3"/>
          <p:cNvSpPr/>
          <p:nvPr/>
        </p:nvSpPr>
        <p:spPr>
          <a:xfrm>
            <a:off x="8010144" y="1865376"/>
            <a:ext cx="402336" cy="402336"/>
          </a:xfrm>
          <a:prstGeom prst="ellipse">
            <a:avLst/>
          </a:prstGeom>
          <a:solidFill>
            <a:srgbClr val="FFCA08"/>
          </a:solidFill>
          <a:ln w="12700">
            <a:solidFill>
              <a:srgbClr val="FFCA08"/>
            </a:solidFill>
            <a:prstDash val="solid"/>
          </a:ln>
        </p:spPr>
      </p:sp>
      <p:sp>
        <p:nvSpPr>
          <p:cNvPr id="7" name="Text 4"/>
          <p:cNvSpPr/>
          <p:nvPr/>
        </p:nvSpPr>
        <p:spPr>
          <a:xfrm>
            <a:off x="8010144" y="1865376"/>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x4</a:t>
            </a:r>
            <a:endParaRPr lang="en-US" sz="1300" dirty="0"/>
          </a:p>
        </p:txBody>
      </p:sp>
      <p:sp>
        <p:nvSpPr>
          <p:cNvPr id="8" name="Text 5"/>
          <p:cNvSpPr/>
          <p:nvPr/>
        </p:nvSpPr>
        <p:spPr>
          <a:xfrm>
            <a:off x="8558784" y="1847088"/>
            <a:ext cx="26883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79,745 examples, not 62,669</a:t>
            </a:r>
            <a:endParaRPr lang="en-US" sz="1500" dirty="0"/>
          </a:p>
        </p:txBody>
      </p:sp>
      <p:sp>
        <p:nvSpPr>
          <p:cNvPr id="9" name="Text 6"/>
          <p:cNvSpPr/>
          <p:nvPr/>
        </p:nvSpPr>
        <p:spPr>
          <a:xfrm>
            <a:off x="8558784" y="2176272"/>
            <a:ext cx="2688336" cy="7589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5,692 PSA pairs are repeated four times per epoch so the domain is not swamped by scripture. Unique pairs stay 62,669.</a:t>
            </a:r>
            <a:endParaRPr lang="en-US" sz="1250" dirty="0"/>
          </a:p>
        </p:txBody>
      </p:sp>
      <p:sp>
        <p:nvSpPr>
          <p:cNvPr id="10" name="Shape 7"/>
          <p:cNvSpPr/>
          <p:nvPr/>
        </p:nvSpPr>
        <p:spPr>
          <a:xfrm>
            <a:off x="7772400" y="3291840"/>
            <a:ext cx="3749040" cy="1810512"/>
          </a:xfrm>
          <a:prstGeom prst="roundRect">
            <a:avLst>
              <a:gd name="adj" fmla="val 4545"/>
            </a:avLst>
          </a:prstGeom>
          <a:solidFill>
            <a:srgbClr val="F1F3F9"/>
          </a:solidFill>
          <a:ln w="12700">
            <a:solidFill>
              <a:srgbClr val="F1F3F9"/>
            </a:solidFill>
            <a:prstDash val="solid"/>
          </a:ln>
        </p:spPr>
      </p:sp>
      <p:sp>
        <p:nvSpPr>
          <p:cNvPr id="11" name="Shape 8"/>
          <p:cNvSpPr/>
          <p:nvPr/>
        </p:nvSpPr>
        <p:spPr>
          <a:xfrm>
            <a:off x="8010144" y="3529584"/>
            <a:ext cx="402336" cy="402336"/>
          </a:xfrm>
          <a:prstGeom prst="ellipse">
            <a:avLst/>
          </a:prstGeom>
          <a:solidFill>
            <a:srgbClr val="293D94"/>
          </a:solidFill>
          <a:ln w="12700">
            <a:solidFill>
              <a:srgbClr val="293D94"/>
            </a:solidFill>
            <a:prstDash val="solid"/>
          </a:ln>
        </p:spPr>
      </p:sp>
      <p:sp>
        <p:nvSpPr>
          <p:cNvPr id="12" name="Text 9"/>
          <p:cNvSpPr/>
          <p:nvPr/>
        </p:nvSpPr>
        <p:spPr>
          <a:xfrm>
            <a:off x="8010144" y="35295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3" name="Text 10"/>
          <p:cNvSpPr/>
          <p:nvPr/>
        </p:nvSpPr>
        <p:spPr>
          <a:xfrm>
            <a:off x="8558784" y="3511296"/>
            <a:ext cx="26883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This source contributed nothing</a:t>
            </a:r>
            <a:endParaRPr lang="en-US" sz="1500" dirty="0"/>
          </a:p>
        </p:txBody>
      </p:sp>
      <p:sp>
        <p:nvSpPr>
          <p:cNvPr id="14" name="Text 11"/>
          <p:cNvSpPr/>
          <p:nvPr/>
        </p:nvSpPr>
        <p:spPr>
          <a:xfrm>
            <a:off x="8558784" y="3840480"/>
            <a:ext cx="2688336" cy="1060704"/>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4laws gave 27,575 pairs, every one a duplicate of the eBible text.</a:t>
            </a:r>
            <a:endParaRPr lang="en-US" sz="1250" dirty="0"/>
          </a:p>
        </p:txBody>
      </p:sp>
      <p:sp>
        <p:nvSpPr>
          <p:cNvPr id="15" name="Shape 12"/>
          <p:cNvSpPr/>
          <p:nvPr/>
        </p:nvSpPr>
        <p:spPr>
          <a:xfrm>
            <a:off x="640080" y="4114800"/>
            <a:ext cx="6858000" cy="1737360"/>
          </a:xfrm>
          <a:prstGeom prst="roundRect">
            <a:avLst>
              <a:gd name="adj" fmla="val 4737"/>
            </a:avLst>
          </a:prstGeom>
          <a:solidFill>
            <a:srgbClr val="F1F3F9"/>
          </a:solidFill>
          <a:ln w="12700">
            <a:solidFill>
              <a:srgbClr val="F1F3F9"/>
            </a:solidFill>
            <a:prstDash val="solid"/>
          </a:ln>
        </p:spPr>
      </p:sp>
      <p:sp>
        <p:nvSpPr>
          <p:cNvPr id="16" name="Shape 13"/>
          <p:cNvSpPr/>
          <p:nvPr/>
        </p:nvSpPr>
        <p:spPr>
          <a:xfrm>
            <a:off x="877824" y="4352544"/>
            <a:ext cx="402336" cy="402336"/>
          </a:xfrm>
          <a:prstGeom prst="ellipse">
            <a:avLst/>
          </a:prstGeom>
          <a:solidFill>
            <a:srgbClr val="293D94"/>
          </a:solidFill>
          <a:ln w="12700">
            <a:solidFill>
              <a:srgbClr val="293D94"/>
            </a:solidFill>
            <a:prstDash val="solid"/>
          </a:ln>
        </p:spPr>
      </p:sp>
      <p:sp>
        <p:nvSpPr>
          <p:cNvPr id="17" name="Text 14"/>
          <p:cNvSpPr/>
          <p:nvPr/>
        </p:nvSpPr>
        <p:spPr>
          <a:xfrm>
            <a:off x="877824" y="43525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5"/>
          <p:cNvSpPr/>
          <p:nvPr/>
        </p:nvSpPr>
        <p:spPr>
          <a:xfrm>
            <a:off x="1426464" y="4334256"/>
            <a:ext cx="579729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Held out and never trained on</a:t>
            </a:r>
            <a:endParaRPr lang="en-US" sz="1500" dirty="0"/>
          </a:p>
        </p:txBody>
      </p:sp>
      <p:sp>
        <p:nvSpPr>
          <p:cNvPr id="19" name="Text 16"/>
          <p:cNvSpPr/>
          <p:nvPr/>
        </p:nvSpPr>
        <p:spPr>
          <a:xfrm>
            <a:off x="1426464" y="4663440"/>
            <a:ext cx="5797296" cy="9875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2,993 scripture pairs, 200 everyday sentences and 944 PSA pairs. The PSA held-out set is what every headline number is measured on.</a:t>
            </a:r>
            <a:endParaRPr lang="en-US" sz="1250" dirty="0"/>
          </a:p>
        </p:txBody>
      </p:sp>
      <p:sp>
        <p:nvSpPr>
          <p:cNvPr id="20" name="Text 17"/>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1" name="Text 18"/>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THE CORE RISK</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Scripture teaches the language, not the vocabulary</a:t>
            </a:r>
            <a:endParaRPr lang="en-US" sz="3000" dirty="0"/>
          </a:p>
        </p:txBody>
      </p:sp>
      <p:sp>
        <p:nvSpPr>
          <p:cNvPr id="4" name="Text 2"/>
          <p:cNvSpPr/>
          <p:nvPr/>
        </p:nvSpPr>
        <p:spPr>
          <a:xfrm>
            <a:off x="640080" y="1645920"/>
            <a:ext cx="2926080" cy="868680"/>
          </a:xfrm>
          <a:prstGeom prst="rect">
            <a:avLst/>
          </a:prstGeom>
          <a:noFill/>
          <a:ln/>
        </p:spPr>
        <p:txBody>
          <a:bodyPr wrap="square" lIns="0" tIns="0" rIns="0" bIns="0" rtlCol="0" anchor="ctr"/>
          <a:lstStyle/>
          <a:p>
            <a:pPr marL="0" indent="0">
              <a:buNone/>
            </a:pPr>
            <a:r>
              <a:rPr lang="en-US" sz="6200" b="1" dirty="0">
                <a:solidFill>
                  <a:srgbClr val="B23B3A"/>
                </a:solidFill>
                <a:latin typeface="Calibri" pitchFamily="34" charset="0"/>
                <a:ea typeface="Calibri" pitchFamily="34" charset="-122"/>
                <a:cs typeface="Calibri" pitchFamily="34" charset="-120"/>
              </a:rPr>
              <a:t>53.6%</a:t>
            </a:r>
            <a:endParaRPr lang="en-US" sz="6200" dirty="0"/>
          </a:p>
        </p:txBody>
      </p:sp>
      <p:sp>
        <p:nvSpPr>
          <p:cNvPr id="5" name="Text 3"/>
          <p:cNvSpPr/>
          <p:nvPr/>
        </p:nvSpPr>
        <p:spPr>
          <a:xfrm>
            <a:off x="640080" y="2514600"/>
            <a:ext cx="3108960" cy="914400"/>
          </a:xfrm>
          <a:prstGeom prst="rect">
            <a:avLst/>
          </a:prstGeom>
          <a:noFill/>
          <a:ln/>
        </p:spPr>
        <p:txBody>
          <a:bodyPr wrap="square" lIns="0" tIns="0" rIns="0" bIns="0" rtlCol="0" anchor="ctr"/>
          <a:lstStyle/>
          <a:p>
            <a:pPr marL="0" indent="0">
              <a:lnSpc>
                <a:spcPct val="115000"/>
              </a:lnSpc>
              <a:buNone/>
            </a:pPr>
            <a:r>
              <a:rPr lang="en-US" sz="1300" dirty="0">
                <a:solidFill>
                  <a:srgbClr val="4B5563"/>
                </a:solidFill>
                <a:latin typeface="Calibri" pitchFamily="34" charset="0"/>
                <a:ea typeface="Calibri" pitchFamily="34" charset="-122"/>
                <a:cs typeface="Calibri" pitchFamily="34" charset="-120"/>
              </a:rPr>
              <a:t>of English content-word types in the PSA corpus never appear in the aligned training data</a:t>
            </a:r>
            <a:endParaRPr lang="en-US" sz="1300" dirty="0"/>
          </a:p>
        </p:txBody>
      </p:sp>
      <p:sp>
        <p:nvSpPr>
          <p:cNvPr id="6" name="Text 4"/>
          <p:cNvSpPr/>
          <p:nvPr/>
        </p:nvSpPr>
        <p:spPr>
          <a:xfrm>
            <a:off x="640080" y="3429000"/>
            <a:ext cx="3108960" cy="274320"/>
          </a:xfrm>
          <a:prstGeom prst="rect">
            <a:avLst/>
          </a:prstGeom>
          <a:noFill/>
          <a:ln/>
        </p:spPr>
        <p:txBody>
          <a:bodyPr wrap="square" lIns="0" tIns="0" rIns="0" bIns="0" rtlCol="0" anchor="ctr"/>
          <a:lstStyle/>
          <a:p>
            <a:pPr marL="0" indent="0">
              <a:buNone/>
            </a:pPr>
            <a:r>
              <a:rPr lang="en-US" sz="1200" i="1" dirty="0">
                <a:solidFill>
                  <a:srgbClr val="FF0000"/>
                </a:solidFill>
                <a:latin typeface="Calibri" pitchFamily="34" charset="0"/>
                <a:ea typeface="Calibri" pitchFamily="34" charset="-122"/>
                <a:cs typeface="Calibri" pitchFamily="34" charset="-120"/>
              </a:rPr>
              <a:t>42.3% of tokens</a:t>
            </a:r>
            <a:endParaRPr lang="en-US" sz="1200" dirty="0">
              <a:solidFill>
                <a:srgbClr val="FF0000"/>
              </a:solidFill>
            </a:endParaRPr>
          </a:p>
        </p:txBody>
      </p:sp>
      <p:sp>
        <p:nvSpPr>
          <p:cNvPr id="7" name="Shape 5"/>
          <p:cNvSpPr/>
          <p:nvPr/>
        </p:nvSpPr>
        <p:spPr>
          <a:xfrm>
            <a:off x="4206240" y="1645920"/>
            <a:ext cx="7315200" cy="1325880"/>
          </a:xfrm>
          <a:prstGeom prst="roundRect">
            <a:avLst>
              <a:gd name="adj" fmla="val 6207"/>
            </a:avLst>
          </a:prstGeom>
          <a:solidFill>
            <a:srgbClr val="FFF7DE"/>
          </a:solidFill>
          <a:ln w="12700">
            <a:solidFill>
              <a:srgbClr val="FFF7DE"/>
            </a:solidFill>
            <a:prstDash val="solid"/>
          </a:ln>
        </p:spPr>
      </p:sp>
      <p:sp>
        <p:nvSpPr>
          <p:cNvPr id="8" name="Text 6"/>
          <p:cNvSpPr/>
          <p:nvPr/>
        </p:nvSpPr>
        <p:spPr>
          <a:xfrm>
            <a:off x="4480560" y="1865376"/>
            <a:ext cx="676656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Words the Bible has no reason to contain</a:t>
            </a:r>
            <a:endParaRPr lang="en-US" sz="1500" dirty="0"/>
          </a:p>
        </p:txBody>
      </p:sp>
      <p:sp>
        <p:nvSpPr>
          <p:cNvPr id="9" name="Text 7"/>
          <p:cNvSpPr/>
          <p:nvPr/>
        </p:nvSpPr>
        <p:spPr>
          <a:xfrm>
            <a:off x="4480560" y="2194560"/>
            <a:ext cx="6766560" cy="5760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portal · bursary · HELB · KUCCPS · iTax · NTSA · Huduma Centre · county government · e-citizen · registration deadline</a:t>
            </a:r>
            <a:endParaRPr lang="en-US" sz="1250" dirty="0"/>
          </a:p>
        </p:txBody>
      </p:sp>
      <p:sp>
        <p:nvSpPr>
          <p:cNvPr id="10" name="Shape 8"/>
          <p:cNvSpPr/>
          <p:nvPr/>
        </p:nvSpPr>
        <p:spPr>
          <a:xfrm>
            <a:off x="4206240" y="3154680"/>
            <a:ext cx="7315200" cy="1234440"/>
          </a:xfrm>
          <a:prstGeom prst="roundRect">
            <a:avLst>
              <a:gd name="adj" fmla="val 6667"/>
            </a:avLst>
          </a:prstGeom>
          <a:solidFill>
            <a:srgbClr val="F1F3F9"/>
          </a:solidFill>
          <a:ln w="12700">
            <a:solidFill>
              <a:srgbClr val="F1F3F9"/>
            </a:solidFill>
            <a:prstDash val="solid"/>
          </a:ln>
        </p:spPr>
      </p:sp>
      <p:sp>
        <p:nvSpPr>
          <p:cNvPr id="11" name="Text 9"/>
          <p:cNvSpPr/>
          <p:nvPr/>
        </p:nvSpPr>
        <p:spPr>
          <a:xfrm>
            <a:off x="4480560" y="3374136"/>
            <a:ext cx="676656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Why this drives the whole design</a:t>
            </a:r>
            <a:endParaRPr lang="en-US" sz="1500" dirty="0"/>
          </a:p>
        </p:txBody>
      </p:sp>
      <p:sp>
        <p:nvSpPr>
          <p:cNvPr id="12" name="Text 10"/>
          <p:cNvSpPr/>
          <p:nvPr/>
        </p:nvSpPr>
        <p:spPr>
          <a:xfrm>
            <a:off x="4480560" y="3703320"/>
            <a:ext cx="6766560"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 model trained only on scripture will translate a cholera advisory as though it were a psalm. The register gap, not the language gap, is what the second phase of training exists to close.</a:t>
            </a:r>
            <a:endParaRPr lang="en-US" sz="1250" dirty="0"/>
          </a:p>
        </p:txBody>
      </p:sp>
      <p:sp>
        <p:nvSpPr>
          <p:cNvPr id="13" name="Shape 11"/>
          <p:cNvSpPr/>
          <p:nvPr/>
        </p:nvSpPr>
        <p:spPr>
          <a:xfrm>
            <a:off x="640080" y="4617720"/>
            <a:ext cx="10881360" cy="1234440"/>
          </a:xfrm>
          <a:prstGeom prst="roundRect">
            <a:avLst>
              <a:gd name="adj" fmla="val 6667"/>
            </a:avLst>
          </a:prstGeom>
          <a:solidFill>
            <a:srgbClr val="F1F3F9"/>
          </a:solidFill>
          <a:ln w="12700">
            <a:solidFill>
              <a:srgbClr val="F1F3F9"/>
            </a:solidFill>
            <a:prstDash val="solid"/>
          </a:ln>
        </p:spPr>
      </p:sp>
      <p:sp>
        <p:nvSpPr>
          <p:cNvPr id="14" name="Shape 12"/>
          <p:cNvSpPr/>
          <p:nvPr/>
        </p:nvSpPr>
        <p:spPr>
          <a:xfrm>
            <a:off x="877824" y="4855464"/>
            <a:ext cx="402336" cy="402336"/>
          </a:xfrm>
          <a:prstGeom prst="ellipse">
            <a:avLst/>
          </a:prstGeom>
          <a:solidFill>
            <a:srgbClr val="293D94"/>
          </a:solidFill>
          <a:ln w="12700">
            <a:solidFill>
              <a:srgbClr val="293D94"/>
            </a:solidFill>
            <a:prstDash val="solid"/>
          </a:ln>
        </p:spPr>
      </p:sp>
      <p:sp>
        <p:nvSpPr>
          <p:cNvPr id="15" name="Text 13"/>
          <p:cNvSpPr/>
          <p:nvPr/>
        </p:nvSpPr>
        <p:spPr>
          <a:xfrm>
            <a:off x="877824" y="48554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1426464" y="483717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Measured before training, not discovered afterwards</a:t>
            </a:r>
            <a:endParaRPr lang="en-US" sz="1500" dirty="0"/>
          </a:p>
        </p:txBody>
      </p:sp>
      <p:sp>
        <p:nvSpPr>
          <p:cNvPr id="17" name="Text 15"/>
          <p:cNvSpPr/>
          <p:nvPr/>
        </p:nvSpPr>
        <p:spPr>
          <a:xfrm>
            <a:off x="1426464" y="5166360"/>
            <a:ext cx="9820656"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exploratory analysis quantified this gap first. It set the expectation that institutional vocabulary would remain the model's weakest point, which the final error analysis confirmed.</a:t>
            </a:r>
            <a:endParaRPr lang="en-US" sz="1250" dirty="0"/>
          </a:p>
        </p:txBody>
      </p:sp>
      <p:sp>
        <p:nvSpPr>
          <p:cNvPr id="18" name="Text 16"/>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7"/>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5</a:t>
            </a:r>
            <a:endParaRPr lang="en-US" sz="950" dirty="0"/>
          </a:p>
        </p:txBody>
      </p:sp>
      <p:sp>
        <p:nvSpPr>
          <p:cNvPr id="20" name="TextBox 19">
            <a:extLst>
              <a:ext uri="{FF2B5EF4-FFF2-40B4-BE49-F238E27FC236}">
                <a16:creationId xmlns:a16="http://schemas.microsoft.com/office/drawing/2014/main" id="{A5E4547E-92DC-51CC-9467-C64DC21CB1F7}"/>
              </a:ext>
            </a:extLst>
          </p:cNvPr>
          <p:cNvSpPr txBox="1"/>
          <p:nvPr/>
        </p:nvSpPr>
        <p:spPr>
          <a:xfrm>
            <a:off x="1649046" y="3563815"/>
            <a:ext cx="184731" cy="369332"/>
          </a:xfrm>
          <a:prstGeom prst="rect">
            <a:avLst/>
          </a:prstGeom>
          <a:noFill/>
        </p:spPr>
        <p:txBody>
          <a:bodyPr wrap="none" rtlCol="0">
            <a:spAutoFit/>
          </a:bodyPr>
          <a:lstStyle/>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METHOD · STEP ONE</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Adding a language to a frozen vocabulary</a:t>
            </a:r>
            <a:endParaRPr lang="en-US" sz="3000" dirty="0"/>
          </a:p>
        </p:txBody>
      </p:sp>
      <p:sp>
        <p:nvSpPr>
          <p:cNvPr id="4" name="Shape 2"/>
          <p:cNvSpPr/>
          <p:nvPr/>
        </p:nvSpPr>
        <p:spPr>
          <a:xfrm>
            <a:off x="640080" y="1645920"/>
            <a:ext cx="3444240" cy="1920240"/>
          </a:xfrm>
          <a:prstGeom prst="roundRect">
            <a:avLst>
              <a:gd name="adj" fmla="val 4286"/>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Add the token</a:t>
            </a:r>
            <a:endParaRPr lang="en-US" sz="1500" dirty="0"/>
          </a:p>
        </p:txBody>
      </p:sp>
      <p:sp>
        <p:nvSpPr>
          <p:cNvPr id="8" name="Text 6"/>
          <p:cNvSpPr/>
          <p:nvPr/>
        </p:nvSpPr>
        <p:spPr>
          <a:xfrm>
            <a:off x="142646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guz_Latn is appended to the tokenizer as a special token and the embedding matrix is resized.</a:t>
            </a:r>
            <a:endParaRPr lang="en-US" sz="1250" dirty="0"/>
          </a:p>
        </p:txBody>
      </p:sp>
      <p:sp>
        <p:nvSpPr>
          <p:cNvPr id="9" name="Shape 7"/>
          <p:cNvSpPr/>
          <p:nvPr/>
        </p:nvSpPr>
        <p:spPr>
          <a:xfrm>
            <a:off x="4358640" y="1645920"/>
            <a:ext cx="3444240" cy="1920240"/>
          </a:xfrm>
          <a:prstGeom prst="roundRect">
            <a:avLst>
              <a:gd name="adj" fmla="val 4286"/>
            </a:avLst>
          </a:prstGeom>
          <a:solidFill>
            <a:srgbClr val="FFF7DE"/>
          </a:solidFill>
          <a:ln w="12700">
            <a:solidFill>
              <a:srgbClr val="FFF7DE"/>
            </a:solidFill>
            <a:prstDash val="solid"/>
          </a:ln>
        </p:spPr>
      </p:sp>
      <p:sp>
        <p:nvSpPr>
          <p:cNvPr id="10" name="Shape 8"/>
          <p:cNvSpPr/>
          <p:nvPr/>
        </p:nvSpPr>
        <p:spPr>
          <a:xfrm>
            <a:off x="4596384" y="1883664"/>
            <a:ext cx="402336" cy="402336"/>
          </a:xfrm>
          <a:prstGeom prst="ellipse">
            <a:avLst/>
          </a:prstGeom>
          <a:solidFill>
            <a:srgbClr val="FFCA08"/>
          </a:solidFill>
          <a:ln w="12700">
            <a:solidFill>
              <a:srgbClr val="FFCA08"/>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Seed it, don't randomise it</a:t>
            </a:r>
            <a:endParaRPr lang="en-US" sz="1500" dirty="0"/>
          </a:p>
        </p:txBody>
      </p:sp>
      <p:sp>
        <p:nvSpPr>
          <p:cNvPr id="13" name="Text 11"/>
          <p:cNvSpPr/>
          <p:nvPr/>
        </p:nvSpPr>
        <p:spPr>
          <a:xfrm>
            <a:off x="514502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new row is copied from kik_Latn (Kikuyu), the closest Kenyan Bantu language NLLB supports, plus 1% noise so the two can diverge during training.</a:t>
            </a:r>
            <a:endParaRPr lang="en-US" sz="1250" dirty="0"/>
          </a:p>
        </p:txBody>
      </p:sp>
      <p:sp>
        <p:nvSpPr>
          <p:cNvPr id="14" name="Shape 12"/>
          <p:cNvSpPr/>
          <p:nvPr/>
        </p:nvSpPr>
        <p:spPr>
          <a:xfrm>
            <a:off x="8077200" y="1645920"/>
            <a:ext cx="3444240" cy="1920240"/>
          </a:xfrm>
          <a:prstGeom prst="roundRect">
            <a:avLst>
              <a:gd name="adj" fmla="val 4286"/>
            </a:avLst>
          </a:prstGeom>
          <a:solidFill>
            <a:srgbClr val="F1F3F9"/>
          </a:solidFill>
          <a:ln w="12700">
            <a:solidFill>
              <a:srgbClr val="F1F3F9"/>
            </a:solidFill>
            <a:prstDash val="solid"/>
          </a:ln>
        </p:spPr>
      </p:sp>
      <p:sp>
        <p:nvSpPr>
          <p:cNvPr id="15" name="Shape 13"/>
          <p:cNvSpPr/>
          <p:nvPr/>
        </p:nvSpPr>
        <p:spPr>
          <a:xfrm>
            <a:off x="8314944" y="1883664"/>
            <a:ext cx="402336" cy="402336"/>
          </a:xfrm>
          <a:prstGeom prst="ellipse">
            <a:avLst/>
          </a:prstGeom>
          <a:solidFill>
            <a:srgbClr val="293D94"/>
          </a:solidFill>
          <a:ln w="12700">
            <a:solidFill>
              <a:srgbClr val="293D94"/>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Build inputs by hand</a:t>
            </a:r>
            <a:endParaRPr lang="en-US" sz="1500" dirty="0"/>
          </a:p>
        </p:txBody>
      </p:sp>
      <p:sp>
        <p:nvSpPr>
          <p:cNvPr id="18" name="Text 16"/>
          <p:cNvSpPr/>
          <p:nvPr/>
        </p:nvSpPr>
        <p:spPr>
          <a:xfrm>
            <a:off x="8863584" y="2194560"/>
            <a:ext cx="2383536" cy="11704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NLLB's tokenizer does not know about a language added after pretraining, so sequences are assembled explicitly as [lang] tokens [eos].</a:t>
            </a:r>
            <a:endParaRPr lang="en-US" sz="1250" dirty="0"/>
          </a:p>
        </p:txBody>
      </p:sp>
      <p:sp>
        <p:nvSpPr>
          <p:cNvPr id="19" name="Shape 17"/>
          <p:cNvSpPr/>
          <p:nvPr/>
        </p:nvSpPr>
        <p:spPr>
          <a:xfrm>
            <a:off x="640080" y="3794760"/>
            <a:ext cx="10881360" cy="1371600"/>
          </a:xfrm>
          <a:prstGeom prst="roundRect">
            <a:avLst>
              <a:gd name="adj" fmla="val 6000"/>
            </a:avLst>
          </a:prstGeom>
          <a:solidFill>
            <a:srgbClr val="FFF7DE"/>
          </a:solidFill>
          <a:ln w="12700">
            <a:solidFill>
              <a:srgbClr val="FFF7DE"/>
            </a:solidFill>
            <a:prstDash val="solid"/>
          </a:ln>
        </p:spPr>
      </p:sp>
      <p:sp>
        <p:nvSpPr>
          <p:cNvPr id="20" name="Shape 18"/>
          <p:cNvSpPr/>
          <p:nvPr/>
        </p:nvSpPr>
        <p:spPr>
          <a:xfrm>
            <a:off x="877824" y="4032504"/>
            <a:ext cx="402336" cy="402336"/>
          </a:xfrm>
          <a:prstGeom prst="ellipse">
            <a:avLst/>
          </a:prstGeom>
          <a:solidFill>
            <a:srgbClr val="FFCA08"/>
          </a:solidFill>
          <a:ln w="12700">
            <a:solidFill>
              <a:srgbClr val="FFCA08"/>
            </a:solidFill>
            <a:prstDash val="solid"/>
          </a:ln>
        </p:spPr>
      </p:sp>
      <p:sp>
        <p:nvSpPr>
          <p:cNvPr id="21" name="Text 19"/>
          <p:cNvSpPr/>
          <p:nvPr/>
        </p:nvSpPr>
        <p:spPr>
          <a:xfrm>
            <a:off x="877824" y="403250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01421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This is transfer-learning, and the seed is where the transfer happens</a:t>
            </a:r>
            <a:endParaRPr lang="en-US" sz="1500" dirty="0"/>
          </a:p>
        </p:txBody>
      </p:sp>
      <p:sp>
        <p:nvSpPr>
          <p:cNvPr id="23" name="Text 21"/>
          <p:cNvSpPr/>
          <p:nvPr/>
        </p:nvSpPr>
        <p:spPr>
          <a:xfrm>
            <a:off x="1426464" y="4343400"/>
            <a:ext cx="9820656"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Transfer learning reuses what a model already knows instead of starting over. NLLB has learned Bantu structure from Kikuyu, Kiswahili and others; seeding guz_Latn from kik_Latn hands Ekegusii that knowledge as a starting point. A random embedding gives the decoder no prior at all, and 62,669 pairs is nowhere near enough to learn a language from nothing.</a:t>
            </a:r>
            <a:endParaRPr lang="en-US" sz="1250" dirty="0"/>
          </a:p>
        </p:txBody>
      </p:sp>
      <p:sp>
        <p:nvSpPr>
          <p:cNvPr id="24" name="Text 22"/>
          <p:cNvSpPr/>
          <p:nvPr/>
        </p:nvSpPr>
        <p:spPr>
          <a:xfrm>
            <a:off x="640080" y="5349240"/>
            <a:ext cx="10881360" cy="45720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Same initialisation, same data, same seed for every run, so what the experiment compares is the ordering of training.</a:t>
            </a:r>
            <a:endParaRPr lang="en-US" sz="130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METHOD · STEP TWO</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The hypothesis, and the control that could kill it</a:t>
            </a:r>
            <a:endParaRPr lang="en-US" sz="3000" dirty="0"/>
          </a:p>
        </p:txBody>
      </p:sp>
      <p:sp>
        <p:nvSpPr>
          <p:cNvPr id="4" name="Shape 2"/>
          <p:cNvSpPr/>
          <p:nvPr/>
        </p:nvSpPr>
        <p:spPr>
          <a:xfrm>
            <a:off x="640080" y="1645920"/>
            <a:ext cx="3444240" cy="2148840"/>
          </a:xfrm>
          <a:prstGeom prst="roundRect">
            <a:avLst>
              <a:gd name="adj" fmla="val 3830"/>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Stage 1: learn the language</a:t>
            </a:r>
            <a:endParaRPr lang="en-US" sz="1500" dirty="0"/>
          </a:p>
        </p:txBody>
      </p:sp>
      <p:sp>
        <p:nvSpPr>
          <p:cNvPr id="8" name="Text 6"/>
          <p:cNvSpPr/>
          <p:nvPr/>
        </p:nvSpPr>
        <p:spPr>
          <a:xfrm>
            <a:off x="142646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57,000 examples of Bible and everyday sentences. The model learns Ekegusii. It has never seen a public notice.</a:t>
            </a:r>
            <a:endParaRPr lang="en-US" sz="1250" dirty="0"/>
          </a:p>
        </p:txBody>
      </p:sp>
      <p:sp>
        <p:nvSpPr>
          <p:cNvPr id="9" name="Shape 7"/>
          <p:cNvSpPr/>
          <p:nvPr/>
        </p:nvSpPr>
        <p:spPr>
          <a:xfrm>
            <a:off x="4358640" y="1645920"/>
            <a:ext cx="3444240" cy="2148840"/>
          </a:xfrm>
          <a:prstGeom prst="roundRect">
            <a:avLst>
              <a:gd name="adj" fmla="val 3830"/>
            </a:avLst>
          </a:prstGeom>
          <a:solidFill>
            <a:srgbClr val="F1F3F9"/>
          </a:solidFill>
          <a:ln w="12700">
            <a:solidFill>
              <a:srgbClr val="F1F3F9"/>
            </a:solidFill>
            <a:prstDash val="solid"/>
          </a:ln>
        </p:spPr>
      </p:sp>
      <p:sp>
        <p:nvSpPr>
          <p:cNvPr id="10" name="Shape 8"/>
          <p:cNvSpPr/>
          <p:nvPr/>
        </p:nvSpPr>
        <p:spPr>
          <a:xfrm>
            <a:off x="4596384" y="1883664"/>
            <a:ext cx="402336" cy="402336"/>
          </a:xfrm>
          <a:prstGeom prst="ellipse">
            <a:avLst/>
          </a:prstGeom>
          <a:solidFill>
            <a:srgbClr val="293D94"/>
          </a:solidFill>
          <a:ln w="12700">
            <a:solidFill>
              <a:srgbClr val="293D94"/>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Stage 2: learn the register</a:t>
            </a:r>
            <a:endParaRPr lang="en-US" sz="1500" dirty="0"/>
          </a:p>
        </p:txBody>
      </p:sp>
      <p:sp>
        <p:nvSpPr>
          <p:cNvPr id="13" name="Text 11"/>
          <p:cNvSpPr/>
          <p:nvPr/>
        </p:nvSpPr>
        <p:spPr>
          <a:xfrm>
            <a:off x="514502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Continue from stage 1 on 30,000 examples: real PSAs upsampled four times, with 25% scripture replayed to prevent the model forgetting what stage 1 taught it.</a:t>
            </a:r>
            <a:endParaRPr lang="en-US" sz="1250" dirty="0"/>
          </a:p>
        </p:txBody>
      </p:sp>
      <p:sp>
        <p:nvSpPr>
          <p:cNvPr id="14" name="Shape 12"/>
          <p:cNvSpPr/>
          <p:nvPr/>
        </p:nvSpPr>
        <p:spPr>
          <a:xfrm>
            <a:off x="8077200" y="1645920"/>
            <a:ext cx="3444240" cy="2148840"/>
          </a:xfrm>
          <a:prstGeom prst="roundRect">
            <a:avLst>
              <a:gd name="adj" fmla="val 3830"/>
            </a:avLst>
          </a:prstGeom>
          <a:solidFill>
            <a:srgbClr val="FFF7DE"/>
          </a:solidFill>
          <a:ln w="12700">
            <a:solidFill>
              <a:srgbClr val="FFF7DE"/>
            </a:solidFill>
            <a:prstDash val="solid"/>
          </a:ln>
        </p:spPr>
      </p:sp>
      <p:sp>
        <p:nvSpPr>
          <p:cNvPr id="15" name="Shape 13"/>
          <p:cNvSpPr/>
          <p:nvPr/>
        </p:nvSpPr>
        <p:spPr>
          <a:xfrm>
            <a:off x="8314944" y="1883664"/>
            <a:ext cx="402336" cy="402336"/>
          </a:xfrm>
          <a:prstGeom prst="ellipse">
            <a:avLst/>
          </a:prstGeom>
          <a:solidFill>
            <a:srgbClr val="FFCA08"/>
          </a:solidFill>
          <a:ln w="12700">
            <a:solidFill>
              <a:srgbClr val="FFCA08"/>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C</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Control: everything at once</a:t>
            </a:r>
            <a:endParaRPr lang="en-US" sz="1500" dirty="0"/>
          </a:p>
        </p:txBody>
      </p:sp>
      <p:sp>
        <p:nvSpPr>
          <p:cNvPr id="18" name="Text 16"/>
          <p:cNvSpPr/>
          <p:nvPr/>
        </p:nvSpPr>
        <p:spPr>
          <a:xfrm>
            <a:off x="8863584" y="2194560"/>
            <a:ext cx="2383536" cy="13990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same 79,745 training examples in a single pass, no ordering. Exists solely to answer: was the curriculum worth anything?</a:t>
            </a:r>
            <a:endParaRPr lang="en-US" sz="1250" dirty="0"/>
          </a:p>
        </p:txBody>
      </p:sp>
      <p:sp>
        <p:nvSpPr>
          <p:cNvPr id="19" name="Shape 17"/>
          <p:cNvSpPr/>
          <p:nvPr/>
        </p:nvSpPr>
        <p:spPr>
          <a:xfrm>
            <a:off x="640080" y="4023360"/>
            <a:ext cx="10881360" cy="1417320"/>
          </a:xfrm>
          <a:prstGeom prst="roundRect">
            <a:avLst>
              <a:gd name="adj" fmla="val 5806"/>
            </a:avLst>
          </a:prstGeom>
          <a:solidFill>
            <a:srgbClr val="F1F3F9"/>
          </a:solidFill>
          <a:ln w="12700">
            <a:solidFill>
              <a:srgbClr val="F1F3F9"/>
            </a:solidFill>
            <a:prstDash val="solid"/>
          </a:ln>
        </p:spPr>
      </p:sp>
      <p:sp>
        <p:nvSpPr>
          <p:cNvPr id="20" name="Shape 18"/>
          <p:cNvSpPr/>
          <p:nvPr/>
        </p:nvSpPr>
        <p:spPr>
          <a:xfrm>
            <a:off x="877824" y="4261104"/>
            <a:ext cx="402336" cy="402336"/>
          </a:xfrm>
          <a:prstGeom prst="ellipse">
            <a:avLst/>
          </a:prstGeom>
          <a:solidFill>
            <a:srgbClr val="293D94"/>
          </a:solidFill>
          <a:ln w="12700">
            <a:solidFill>
              <a:srgbClr val="293D94"/>
            </a:solidFill>
            <a:prstDash val="solid"/>
          </a:ln>
        </p:spPr>
      </p:sp>
      <p:sp>
        <p:nvSpPr>
          <p:cNvPr id="21" name="Text 19"/>
          <p:cNvSpPr/>
          <p:nvPr/>
        </p:nvSpPr>
        <p:spPr>
          <a:xfrm>
            <a:off x="877824" y="426110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24281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The control</a:t>
            </a:r>
            <a:endParaRPr lang="en-US" sz="1500" dirty="0"/>
          </a:p>
        </p:txBody>
      </p:sp>
      <p:sp>
        <p:nvSpPr>
          <p:cNvPr id="23" name="Text 21"/>
          <p:cNvSpPr/>
          <p:nvPr/>
        </p:nvSpPr>
        <p:spPr>
          <a:xfrm>
            <a:off x="1426464" y="4572000"/>
            <a:ext cx="982065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Without run C, the two-stage curriculum improved PSA translation by 11 chrF2++, the gain could come entirely from seeing PSA data at all, in any order. </a:t>
            </a:r>
            <a:endParaRPr lang="en-US" sz="1250" dirty="0"/>
          </a:p>
        </p:txBody>
      </p:sp>
      <p:sp>
        <p:nvSpPr>
          <p:cNvPr id="24" name="Text 22"/>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5" name="Text 23"/>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EVALUATION</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Why chrF2++, and why BLEU would have misled us</a:t>
            </a:r>
            <a:endParaRPr lang="en-US" sz="3000" dirty="0"/>
          </a:p>
        </p:txBody>
      </p:sp>
      <p:sp>
        <p:nvSpPr>
          <p:cNvPr id="4" name="Shape 2"/>
          <p:cNvSpPr/>
          <p:nvPr/>
        </p:nvSpPr>
        <p:spPr>
          <a:xfrm>
            <a:off x="640080" y="1645920"/>
            <a:ext cx="5303520" cy="2011680"/>
          </a:xfrm>
          <a:prstGeom prst="roundRect">
            <a:avLst>
              <a:gd name="adj" fmla="val 4091"/>
            </a:avLst>
          </a:prstGeom>
          <a:solidFill>
            <a:srgbClr val="FFF7DE"/>
          </a:solidFill>
          <a:ln w="12700">
            <a:solidFill>
              <a:srgbClr val="FFF7DE"/>
            </a:solidFill>
            <a:prstDash val="solid"/>
          </a:ln>
        </p:spPr>
      </p:sp>
      <p:sp>
        <p:nvSpPr>
          <p:cNvPr id="5" name="Shape 3"/>
          <p:cNvSpPr/>
          <p:nvPr/>
        </p:nvSpPr>
        <p:spPr>
          <a:xfrm>
            <a:off x="877824" y="1883664"/>
            <a:ext cx="402336" cy="402336"/>
          </a:xfrm>
          <a:prstGeom prst="ellipse">
            <a:avLst/>
          </a:prstGeom>
          <a:solidFill>
            <a:srgbClr val="FFCA08"/>
          </a:solidFill>
          <a:ln w="12700">
            <a:solidFill>
              <a:srgbClr val="FFCA08"/>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86537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BLEU counts whole words</a:t>
            </a:r>
            <a:endParaRPr lang="en-US" sz="1500" dirty="0"/>
          </a:p>
        </p:txBody>
      </p:sp>
      <p:sp>
        <p:nvSpPr>
          <p:cNvPr id="8" name="Text 6"/>
          <p:cNvSpPr/>
          <p:nvPr/>
        </p:nvSpPr>
        <p:spPr>
          <a:xfrm>
            <a:off x="1426464" y="2194560"/>
            <a:ext cx="424281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Ekegusii is agglutinative: subject, tense, object and negation attach to a verb stem, so one word carries what English spreads over five. Get the stem right and one affix wrong and BLEU scores that word zero, a near-perfect translation reads as a failure.</a:t>
            </a:r>
            <a:endParaRPr lang="en-US" sz="1250" dirty="0"/>
          </a:p>
        </p:txBody>
      </p:sp>
      <p:sp>
        <p:nvSpPr>
          <p:cNvPr id="9" name="Shape 7"/>
          <p:cNvSpPr/>
          <p:nvPr/>
        </p:nvSpPr>
        <p:spPr>
          <a:xfrm>
            <a:off x="6217920" y="1645920"/>
            <a:ext cx="5303520" cy="2011680"/>
          </a:xfrm>
          <a:prstGeom prst="roundRect">
            <a:avLst>
              <a:gd name="adj" fmla="val 4091"/>
            </a:avLst>
          </a:prstGeom>
          <a:solidFill>
            <a:srgbClr val="F1F3F9"/>
          </a:solidFill>
          <a:ln w="12700">
            <a:solidFill>
              <a:srgbClr val="F1F3F9"/>
            </a:solidFill>
            <a:prstDash val="solid"/>
          </a:ln>
        </p:spPr>
      </p:sp>
      <p:sp>
        <p:nvSpPr>
          <p:cNvPr id="10" name="Shape 8"/>
          <p:cNvSpPr/>
          <p:nvPr/>
        </p:nvSpPr>
        <p:spPr>
          <a:xfrm>
            <a:off x="6455664" y="188366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004304" y="186537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chrF2++ counts character n-grams</a:t>
            </a:r>
            <a:endParaRPr lang="en-US" sz="1500" dirty="0"/>
          </a:p>
        </p:txBody>
      </p:sp>
      <p:sp>
        <p:nvSpPr>
          <p:cNvPr id="13" name="Text 11"/>
          <p:cNvSpPr/>
          <p:nvPr/>
        </p:nvSpPr>
        <p:spPr>
          <a:xfrm>
            <a:off x="7004304" y="2194560"/>
            <a:ext cx="424281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It scores overlapping character sequences, plus word unigrams and bigrams. A correct stem with an imperfect affix earns most of the credit it deserves, which is what a human rater would also give it.</a:t>
            </a:r>
            <a:endParaRPr lang="en-US" sz="1250" dirty="0"/>
          </a:p>
        </p:txBody>
      </p:sp>
      <p:sp>
        <p:nvSpPr>
          <p:cNvPr id="14" name="Text 12"/>
          <p:cNvSpPr/>
          <p:nvPr/>
        </p:nvSpPr>
        <p:spPr>
          <a:xfrm>
            <a:off x="640080" y="3913632"/>
            <a:ext cx="10881360" cy="274320"/>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What that looks like in our results, English into Ekegusii on real PSAs:</a:t>
            </a:r>
            <a:endParaRPr lang="en-US" sz="13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4261104"/>
          <a:ext cx="10881360" cy="1463040"/>
        </p:xfrm>
        <a:graphic>
          <a:graphicData uri="http://schemas.openxmlformats.org/drawingml/2006/table">
            <a:tbl>
              <a:tblPr/>
              <a:tblGrid>
                <a:gridCol w="26517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System</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BLEU</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chrF2++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What BLEU would have told you</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Stock NLLB-200</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1.63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14.56</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near zero</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Stage 1, language only</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2.54</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23.96</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still near zero, though the model now speaks Ekegusii</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2608">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Two-stage curriculum</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7.21</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dirty="0">
                          <a:solidFill>
                            <a:srgbClr val="16181D"/>
                          </a:solidFill>
                          <a:latin typeface="Calibri" pitchFamily="34" charset="0"/>
                          <a:ea typeface="Calibri" pitchFamily="34" charset="-122"/>
                          <a:cs typeface="Calibri" pitchFamily="34" charset="-120"/>
                        </a:rPr>
                        <a:t>34.93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a fraction of the real gain</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2608">
                <a:tc>
                  <a:txBody>
                    <a:bodyPr/>
                    <a:lstStyle/>
                    <a:p>
                      <a:pPr marL="0" indent="0">
                        <a:buNone/>
                      </a:pPr>
                      <a:r>
                        <a:rPr lang="en-US" sz="1150" b="1" dirty="0">
                          <a:solidFill>
                            <a:srgbClr val="16181D"/>
                          </a:solidFill>
                          <a:latin typeface="Calibri" pitchFamily="34" charset="0"/>
                          <a:ea typeface="Calibri" pitchFamily="34" charset="-122"/>
                          <a:cs typeface="Calibri" pitchFamily="34" charset="-120"/>
                        </a:rPr>
                        <a:t>Single pass (released)</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12.33</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150" b="1" dirty="0">
                          <a:solidFill>
                            <a:srgbClr val="16181D"/>
                          </a:solidFill>
                          <a:latin typeface="Calibri" pitchFamily="34" charset="0"/>
                          <a:ea typeface="Calibri" pitchFamily="34" charset="-122"/>
                          <a:cs typeface="Calibri" pitchFamily="34" charset="-120"/>
                        </a:rPr>
                        <a:t>40.97</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150" dirty="0">
                          <a:solidFill>
                            <a:srgbClr val="16181D"/>
                          </a:solidFill>
                          <a:latin typeface="Calibri" pitchFamily="34" charset="0"/>
                          <a:ea typeface="Calibri" pitchFamily="34" charset="-122"/>
                          <a:cs typeface="Calibri" pitchFamily="34" charset="-120"/>
                        </a:rPr>
                        <a:t>7.6x the floor, against 2.8x on chrF2++</a:t>
                      </a:r>
                      <a:endParaRPr lang="en-US" sz="11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6" name="Text 13"/>
          <p:cNvSpPr/>
          <p:nvPr/>
        </p:nvSpPr>
        <p:spPr>
          <a:xfrm>
            <a:off x="640080" y="5806440"/>
            <a:ext cx="10881360" cy="457200"/>
          </a:xfrm>
          <a:prstGeom prst="rect">
            <a:avLst/>
          </a:prstGeom>
          <a:noFill/>
          <a:ln/>
        </p:spPr>
        <p:txBody>
          <a:bodyPr wrap="square" lIns="0" tIns="0" rIns="0" bIns="0" rtlCol="0" anchor="ctr"/>
          <a:lstStyle/>
          <a:p>
            <a:pPr marL="0" indent="0">
              <a:buNone/>
            </a:pPr>
            <a:r>
              <a:rPr lang="en-US" sz="1300" i="1" dirty="0">
                <a:solidFill>
                  <a:srgbClr val="4B5563"/>
                </a:solidFill>
                <a:latin typeface="Calibri" pitchFamily="34" charset="0"/>
                <a:ea typeface="Calibri" pitchFamily="34" charset="-122"/>
                <a:cs typeface="Calibri" pitchFamily="34" charset="-120"/>
              </a:rPr>
              <a:t>Stage 1 reaches 23.96 chrF2++ and scores 2.54 BLEU. A metric that cannot separate a working model from a broken one is not measuring the right thing.</a:t>
            </a:r>
            <a:endParaRPr lang="en-US" sz="1300" dirty="0"/>
          </a:p>
        </p:txBody>
      </p:sp>
      <p:sp>
        <p:nvSpPr>
          <p:cNvPr id="17"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8"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SETUP</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was actually run</a:t>
            </a:r>
            <a:endParaRPr lang="en-US" sz="3000" dirty="0"/>
          </a:p>
        </p:txBody>
      </p:sp>
      <p:sp>
        <p:nvSpPr>
          <p:cNvPr id="4" name="Shape 2"/>
          <p:cNvSpPr/>
          <p:nvPr/>
        </p:nvSpPr>
        <p:spPr>
          <a:xfrm>
            <a:off x="670560" y="2404872"/>
            <a:ext cx="5303520" cy="457200"/>
          </a:xfrm>
          <a:prstGeom prst="roundRect">
            <a:avLst>
              <a:gd name="adj" fmla="val 12000"/>
            </a:avLst>
          </a:prstGeom>
          <a:solidFill>
            <a:srgbClr val="F1F3F9"/>
          </a:solidFill>
          <a:ln w="12700">
            <a:solidFill>
              <a:srgbClr val="F1F3F9"/>
            </a:solidFill>
            <a:prstDash val="solid"/>
          </a:ln>
        </p:spPr>
      </p:sp>
      <p:sp>
        <p:nvSpPr>
          <p:cNvPr id="5" name="Text 3"/>
          <p:cNvSpPr/>
          <p:nvPr/>
        </p:nvSpPr>
        <p:spPr>
          <a:xfrm>
            <a:off x="871728" y="2404872"/>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Base model</a:t>
            </a:r>
            <a:endParaRPr lang="en-US" sz="1150" dirty="0"/>
          </a:p>
        </p:txBody>
      </p:sp>
      <p:sp>
        <p:nvSpPr>
          <p:cNvPr id="6" name="Text 4"/>
          <p:cNvSpPr/>
          <p:nvPr/>
        </p:nvSpPr>
        <p:spPr>
          <a:xfrm>
            <a:off x="2636520" y="2404872"/>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facebook/nllb-200-distilled-600M</a:t>
            </a:r>
            <a:endParaRPr lang="en-US" sz="1250" dirty="0"/>
          </a:p>
        </p:txBody>
      </p:sp>
      <p:sp>
        <p:nvSpPr>
          <p:cNvPr id="7" name="Shape 5"/>
          <p:cNvSpPr/>
          <p:nvPr/>
        </p:nvSpPr>
        <p:spPr>
          <a:xfrm>
            <a:off x="6248400" y="2404872"/>
            <a:ext cx="5303520" cy="457200"/>
          </a:xfrm>
          <a:prstGeom prst="roundRect">
            <a:avLst>
              <a:gd name="adj" fmla="val 12000"/>
            </a:avLst>
          </a:prstGeom>
          <a:solidFill>
            <a:srgbClr val="F1F3F9"/>
          </a:solidFill>
          <a:ln w="12700">
            <a:solidFill>
              <a:srgbClr val="F1F3F9"/>
            </a:solidFill>
            <a:prstDash val="solid"/>
          </a:ln>
        </p:spPr>
      </p:sp>
      <p:sp>
        <p:nvSpPr>
          <p:cNvPr id="8" name="Text 6"/>
          <p:cNvSpPr/>
          <p:nvPr/>
        </p:nvSpPr>
        <p:spPr>
          <a:xfrm>
            <a:off x="6449568" y="2404872"/>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Hardware</a:t>
            </a:r>
            <a:endParaRPr lang="en-US" sz="1150" dirty="0"/>
          </a:p>
        </p:txBody>
      </p:sp>
      <p:sp>
        <p:nvSpPr>
          <p:cNvPr id="9" name="Text 7"/>
          <p:cNvSpPr/>
          <p:nvPr/>
        </p:nvSpPr>
        <p:spPr>
          <a:xfrm>
            <a:off x="8214360" y="2404872"/>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1 × NVIDIA A100-SXM4-80GB</a:t>
            </a:r>
            <a:endParaRPr lang="en-US" sz="1250" dirty="0"/>
          </a:p>
        </p:txBody>
      </p:sp>
      <p:sp>
        <p:nvSpPr>
          <p:cNvPr id="10" name="Shape 8"/>
          <p:cNvSpPr/>
          <p:nvPr/>
        </p:nvSpPr>
        <p:spPr>
          <a:xfrm>
            <a:off x="670560" y="2971800"/>
            <a:ext cx="5303520" cy="457200"/>
          </a:xfrm>
          <a:prstGeom prst="roundRect">
            <a:avLst>
              <a:gd name="adj" fmla="val 12000"/>
            </a:avLst>
          </a:prstGeom>
          <a:solidFill>
            <a:srgbClr val="F1F3F9"/>
          </a:solidFill>
          <a:ln w="12700">
            <a:solidFill>
              <a:srgbClr val="F1F3F9"/>
            </a:solidFill>
            <a:prstDash val="solid"/>
          </a:ln>
        </p:spPr>
      </p:sp>
      <p:sp>
        <p:nvSpPr>
          <p:cNvPr id="11" name="Text 9"/>
          <p:cNvSpPr/>
          <p:nvPr/>
        </p:nvSpPr>
        <p:spPr>
          <a:xfrm>
            <a:off x="871728" y="2971800"/>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Precision</a:t>
            </a:r>
            <a:endParaRPr lang="en-US" sz="1150" dirty="0"/>
          </a:p>
        </p:txBody>
      </p:sp>
      <p:sp>
        <p:nvSpPr>
          <p:cNvPr id="12" name="Text 10"/>
          <p:cNvSpPr/>
          <p:nvPr/>
        </p:nvSpPr>
        <p:spPr>
          <a:xfrm>
            <a:off x="2636520" y="2971800"/>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bf16, gradient checkpointing</a:t>
            </a:r>
            <a:endParaRPr lang="en-US" sz="1250" dirty="0"/>
          </a:p>
        </p:txBody>
      </p:sp>
      <p:sp>
        <p:nvSpPr>
          <p:cNvPr id="13" name="Shape 11"/>
          <p:cNvSpPr/>
          <p:nvPr/>
        </p:nvSpPr>
        <p:spPr>
          <a:xfrm>
            <a:off x="6248400" y="2971800"/>
            <a:ext cx="5303520" cy="457200"/>
          </a:xfrm>
          <a:prstGeom prst="roundRect">
            <a:avLst>
              <a:gd name="adj" fmla="val 12000"/>
            </a:avLst>
          </a:prstGeom>
          <a:solidFill>
            <a:srgbClr val="F1F3F9"/>
          </a:solidFill>
          <a:ln w="12700">
            <a:solidFill>
              <a:srgbClr val="F1F3F9"/>
            </a:solidFill>
            <a:prstDash val="solid"/>
          </a:ln>
        </p:spPr>
      </p:sp>
      <p:sp>
        <p:nvSpPr>
          <p:cNvPr id="14" name="Text 12"/>
          <p:cNvSpPr/>
          <p:nvPr/>
        </p:nvSpPr>
        <p:spPr>
          <a:xfrm>
            <a:off x="6449568" y="2971800"/>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Optimiser</a:t>
            </a:r>
            <a:endParaRPr lang="en-US" sz="1150" dirty="0"/>
          </a:p>
        </p:txBody>
      </p:sp>
      <p:sp>
        <p:nvSpPr>
          <p:cNvPr id="15" name="Text 13"/>
          <p:cNvSpPr/>
          <p:nvPr/>
        </p:nvSpPr>
        <p:spPr>
          <a:xfrm>
            <a:off x="8214360" y="2971800"/>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8-bit AdamW, effective batch 48</a:t>
            </a:r>
            <a:endParaRPr lang="en-US" sz="1250" dirty="0"/>
          </a:p>
        </p:txBody>
      </p:sp>
      <p:sp>
        <p:nvSpPr>
          <p:cNvPr id="16" name="Shape 14"/>
          <p:cNvSpPr/>
          <p:nvPr/>
        </p:nvSpPr>
        <p:spPr>
          <a:xfrm>
            <a:off x="670560" y="3538728"/>
            <a:ext cx="5303520" cy="457200"/>
          </a:xfrm>
          <a:prstGeom prst="roundRect">
            <a:avLst>
              <a:gd name="adj" fmla="val 12000"/>
            </a:avLst>
          </a:prstGeom>
          <a:solidFill>
            <a:srgbClr val="F1F3F9"/>
          </a:solidFill>
          <a:ln w="12700">
            <a:solidFill>
              <a:srgbClr val="F1F3F9"/>
            </a:solidFill>
            <a:prstDash val="solid"/>
          </a:ln>
        </p:spPr>
      </p:sp>
      <p:sp>
        <p:nvSpPr>
          <p:cNvPr id="17" name="Text 15"/>
          <p:cNvSpPr/>
          <p:nvPr/>
        </p:nvSpPr>
        <p:spPr>
          <a:xfrm>
            <a:off x="871728" y="3538728"/>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Learning rate</a:t>
            </a:r>
            <a:endParaRPr lang="en-US" sz="1150" dirty="0"/>
          </a:p>
        </p:txBody>
      </p:sp>
      <p:sp>
        <p:nvSpPr>
          <p:cNvPr id="18" name="Text 16"/>
          <p:cNvSpPr/>
          <p:nvPr/>
        </p:nvSpPr>
        <p:spPr>
          <a:xfrm>
            <a:off x="2636520" y="3538728"/>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5e-5 stage 1 and control · 1.5e-5 stage 2</a:t>
            </a:r>
            <a:endParaRPr lang="en-US" sz="1250" dirty="0"/>
          </a:p>
        </p:txBody>
      </p:sp>
      <p:sp>
        <p:nvSpPr>
          <p:cNvPr id="19" name="Shape 17"/>
          <p:cNvSpPr/>
          <p:nvPr/>
        </p:nvSpPr>
        <p:spPr>
          <a:xfrm>
            <a:off x="6248400" y="3538728"/>
            <a:ext cx="5303520" cy="457200"/>
          </a:xfrm>
          <a:prstGeom prst="roundRect">
            <a:avLst>
              <a:gd name="adj" fmla="val 12000"/>
            </a:avLst>
          </a:prstGeom>
          <a:solidFill>
            <a:srgbClr val="F1F3F9"/>
          </a:solidFill>
          <a:ln w="12700">
            <a:solidFill>
              <a:srgbClr val="F1F3F9"/>
            </a:solidFill>
            <a:prstDash val="solid"/>
          </a:ln>
        </p:spPr>
      </p:sp>
      <p:sp>
        <p:nvSpPr>
          <p:cNvPr id="20" name="Text 18"/>
          <p:cNvSpPr/>
          <p:nvPr/>
        </p:nvSpPr>
        <p:spPr>
          <a:xfrm>
            <a:off x="6449568" y="3538728"/>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Epochs</a:t>
            </a:r>
            <a:endParaRPr lang="en-US" sz="1150" dirty="0"/>
          </a:p>
        </p:txBody>
      </p:sp>
      <p:sp>
        <p:nvSpPr>
          <p:cNvPr id="21" name="Text 19"/>
          <p:cNvSpPr/>
          <p:nvPr/>
        </p:nvSpPr>
        <p:spPr>
          <a:xfrm>
            <a:off x="8214360" y="3538728"/>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3 per run, best checkpoint by dev loss</a:t>
            </a:r>
            <a:endParaRPr lang="en-US" sz="1250" dirty="0"/>
          </a:p>
        </p:txBody>
      </p:sp>
      <p:sp>
        <p:nvSpPr>
          <p:cNvPr id="22" name="Shape 20"/>
          <p:cNvSpPr/>
          <p:nvPr/>
        </p:nvSpPr>
        <p:spPr>
          <a:xfrm>
            <a:off x="670560" y="4105656"/>
            <a:ext cx="5303520" cy="457200"/>
          </a:xfrm>
          <a:prstGeom prst="roundRect">
            <a:avLst>
              <a:gd name="adj" fmla="val 12000"/>
            </a:avLst>
          </a:prstGeom>
          <a:solidFill>
            <a:srgbClr val="F1F3F9"/>
          </a:solidFill>
          <a:ln w="12700">
            <a:solidFill>
              <a:srgbClr val="F1F3F9"/>
            </a:solidFill>
            <a:prstDash val="solid"/>
          </a:ln>
        </p:spPr>
      </p:sp>
      <p:sp>
        <p:nvSpPr>
          <p:cNvPr id="23" name="Text 21"/>
          <p:cNvSpPr/>
          <p:nvPr/>
        </p:nvSpPr>
        <p:spPr>
          <a:xfrm>
            <a:off x="871728" y="4105656"/>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Decoding</a:t>
            </a:r>
            <a:endParaRPr lang="en-US" sz="1150" dirty="0"/>
          </a:p>
        </p:txBody>
      </p:sp>
      <p:sp>
        <p:nvSpPr>
          <p:cNvPr id="24" name="Text 22"/>
          <p:cNvSpPr/>
          <p:nvPr/>
        </p:nvSpPr>
        <p:spPr>
          <a:xfrm>
            <a:off x="2636520" y="4105656"/>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beam 4, max 128 new tokens</a:t>
            </a:r>
            <a:endParaRPr lang="en-US" sz="1250" dirty="0"/>
          </a:p>
        </p:txBody>
      </p:sp>
      <p:sp>
        <p:nvSpPr>
          <p:cNvPr id="25" name="Shape 23"/>
          <p:cNvSpPr/>
          <p:nvPr/>
        </p:nvSpPr>
        <p:spPr>
          <a:xfrm>
            <a:off x="6248400" y="4105656"/>
            <a:ext cx="5303520" cy="457200"/>
          </a:xfrm>
          <a:prstGeom prst="roundRect">
            <a:avLst>
              <a:gd name="adj" fmla="val 12000"/>
            </a:avLst>
          </a:prstGeom>
          <a:solidFill>
            <a:srgbClr val="F1F3F9"/>
          </a:solidFill>
          <a:ln w="12700">
            <a:solidFill>
              <a:srgbClr val="F1F3F9"/>
            </a:solidFill>
            <a:prstDash val="solid"/>
          </a:ln>
        </p:spPr>
      </p:sp>
      <p:sp>
        <p:nvSpPr>
          <p:cNvPr id="26" name="Text 24"/>
          <p:cNvSpPr/>
          <p:nvPr/>
        </p:nvSpPr>
        <p:spPr>
          <a:xfrm>
            <a:off x="6449568" y="4105656"/>
            <a:ext cx="1737360" cy="457200"/>
          </a:xfrm>
          <a:prstGeom prst="rect">
            <a:avLst/>
          </a:prstGeom>
          <a:noFill/>
          <a:ln/>
        </p:spPr>
        <p:txBody>
          <a:bodyPr wrap="square" lIns="0" tIns="0" rIns="0" bIns="0" rtlCol="0" anchor="ctr"/>
          <a:lstStyle/>
          <a:p>
            <a:pPr marL="0" indent="0">
              <a:buNone/>
            </a:pPr>
            <a:r>
              <a:rPr lang="en-US" sz="1150" dirty="0">
                <a:solidFill>
                  <a:srgbClr val="8A919E"/>
                </a:solidFill>
                <a:latin typeface="Calibri" pitchFamily="34" charset="0"/>
                <a:ea typeface="Calibri" pitchFamily="34" charset="-122"/>
                <a:cs typeface="Calibri" pitchFamily="34" charset="-120"/>
              </a:rPr>
              <a:t>Seed</a:t>
            </a:r>
            <a:endParaRPr lang="en-US" sz="1150" dirty="0"/>
          </a:p>
        </p:txBody>
      </p:sp>
      <p:sp>
        <p:nvSpPr>
          <p:cNvPr id="27" name="Text 25"/>
          <p:cNvSpPr/>
          <p:nvPr/>
        </p:nvSpPr>
        <p:spPr>
          <a:xfrm>
            <a:off x="8214360" y="4105656"/>
            <a:ext cx="3154680" cy="457200"/>
          </a:xfrm>
          <a:prstGeom prst="rect">
            <a:avLst/>
          </a:prstGeom>
          <a:noFill/>
          <a:ln/>
        </p:spPr>
        <p:txBody>
          <a:bodyPr wrap="square" lIns="0" tIns="0" rIns="0" bIns="0" rtlCol="0" anchor="ctr"/>
          <a:lstStyle/>
          <a:p>
            <a:pPr marL="0" indent="0">
              <a:buNone/>
            </a:pPr>
            <a:r>
              <a:rPr lang="en-US" sz="1250" b="1" dirty="0">
                <a:solidFill>
                  <a:srgbClr val="16181D"/>
                </a:solidFill>
                <a:latin typeface="Calibri" pitchFamily="34" charset="0"/>
                <a:ea typeface="Calibri" pitchFamily="34" charset="-122"/>
                <a:cs typeface="Calibri" pitchFamily="34" charset="-120"/>
              </a:rPr>
              <a:t>42, fixed across all three runs</a:t>
            </a:r>
            <a:endParaRPr lang="en-US" sz="1250" dirty="0"/>
          </a:p>
        </p:txBody>
      </p:sp>
      <p:sp>
        <p:nvSpPr>
          <p:cNvPr id="33" name="Text 31"/>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34" name="Text 32"/>
          <p:cNvSpPr/>
          <p:nvPr/>
        </p:nvSpPr>
        <p:spPr>
          <a:xfrm>
            <a:off x="11003280" y="7132320"/>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Both directions, four systems, chrF2++</a:t>
            </a:r>
            <a:endParaRPr lang="en-US" sz="3000" dirty="0"/>
          </a:p>
        </p:txBody>
      </p:sp>
      <p:sp>
        <p:nvSpPr>
          <p:cNvPr id="4" name="Shape 2"/>
          <p:cNvSpPr/>
          <p:nvPr/>
        </p:nvSpPr>
        <p:spPr>
          <a:xfrm>
            <a:off x="640080" y="1980649"/>
            <a:ext cx="155448" cy="155448"/>
          </a:xfrm>
          <a:prstGeom prst="roundRect">
            <a:avLst>
              <a:gd name="adj" fmla="val 23529"/>
            </a:avLst>
          </a:prstGeom>
          <a:solidFill>
            <a:srgbClr val="C8CDD8"/>
          </a:solidFill>
          <a:ln w="12700">
            <a:solidFill>
              <a:srgbClr val="C8CDD8"/>
            </a:solidFill>
            <a:prstDash val="solid"/>
          </a:ln>
        </p:spPr>
      </p:sp>
      <p:sp>
        <p:nvSpPr>
          <p:cNvPr id="5" name="Text 3"/>
          <p:cNvSpPr/>
          <p:nvPr/>
        </p:nvSpPr>
        <p:spPr>
          <a:xfrm>
            <a:off x="859536" y="1934929"/>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Stock NLLB-200</a:t>
            </a:r>
            <a:endParaRPr lang="en-US" sz="1100" dirty="0"/>
          </a:p>
        </p:txBody>
      </p:sp>
      <p:sp>
        <p:nvSpPr>
          <p:cNvPr id="6" name="Shape 4"/>
          <p:cNvSpPr/>
          <p:nvPr/>
        </p:nvSpPr>
        <p:spPr>
          <a:xfrm>
            <a:off x="1836115" y="1980649"/>
            <a:ext cx="155448" cy="155448"/>
          </a:xfrm>
          <a:prstGeom prst="roundRect">
            <a:avLst>
              <a:gd name="adj" fmla="val 23529"/>
            </a:avLst>
          </a:prstGeom>
          <a:solidFill>
            <a:srgbClr val="9AA8D8"/>
          </a:solidFill>
          <a:ln w="12700">
            <a:solidFill>
              <a:srgbClr val="9AA8D8"/>
            </a:solidFill>
            <a:prstDash val="solid"/>
          </a:ln>
        </p:spPr>
      </p:sp>
      <p:sp>
        <p:nvSpPr>
          <p:cNvPr id="7" name="Text 5"/>
          <p:cNvSpPr/>
          <p:nvPr/>
        </p:nvSpPr>
        <p:spPr>
          <a:xfrm>
            <a:off x="2055571" y="1934929"/>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Stage 1 (language only)</a:t>
            </a:r>
            <a:endParaRPr lang="en-US" sz="1100" dirty="0"/>
          </a:p>
        </p:txBody>
      </p:sp>
      <p:sp>
        <p:nvSpPr>
          <p:cNvPr id="8" name="Shape 6"/>
          <p:cNvSpPr/>
          <p:nvPr/>
        </p:nvSpPr>
        <p:spPr>
          <a:xfrm>
            <a:off x="3624682" y="1980649"/>
            <a:ext cx="155448" cy="155448"/>
          </a:xfrm>
          <a:prstGeom prst="roundRect">
            <a:avLst>
              <a:gd name="adj" fmla="val 23529"/>
            </a:avLst>
          </a:prstGeom>
          <a:solidFill>
            <a:srgbClr val="6C7FC4"/>
          </a:solidFill>
          <a:ln w="12700">
            <a:solidFill>
              <a:srgbClr val="6C7FC4"/>
            </a:solidFill>
            <a:prstDash val="solid"/>
          </a:ln>
        </p:spPr>
      </p:sp>
      <p:sp>
        <p:nvSpPr>
          <p:cNvPr id="9" name="Text 7"/>
          <p:cNvSpPr/>
          <p:nvPr/>
        </p:nvSpPr>
        <p:spPr>
          <a:xfrm>
            <a:off x="3844138" y="1934929"/>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Two-stage curriculum</a:t>
            </a:r>
            <a:endParaRPr lang="en-US" sz="1100" dirty="0"/>
          </a:p>
        </p:txBody>
      </p:sp>
      <p:sp>
        <p:nvSpPr>
          <p:cNvPr id="10" name="Shape 8"/>
          <p:cNvSpPr/>
          <p:nvPr/>
        </p:nvSpPr>
        <p:spPr>
          <a:xfrm>
            <a:off x="5215738" y="1980649"/>
            <a:ext cx="155448" cy="155448"/>
          </a:xfrm>
          <a:prstGeom prst="roundRect">
            <a:avLst>
              <a:gd name="adj" fmla="val 23529"/>
            </a:avLst>
          </a:prstGeom>
          <a:solidFill>
            <a:srgbClr val="293D94"/>
          </a:solidFill>
          <a:ln w="12700">
            <a:solidFill>
              <a:srgbClr val="293D94"/>
            </a:solidFill>
            <a:prstDash val="solid"/>
          </a:ln>
        </p:spPr>
      </p:sp>
      <p:sp>
        <p:nvSpPr>
          <p:cNvPr id="11" name="Text 9"/>
          <p:cNvSpPr/>
          <p:nvPr/>
        </p:nvSpPr>
        <p:spPr>
          <a:xfrm>
            <a:off x="5435194" y="1934929"/>
            <a:ext cx="2286000" cy="256032"/>
          </a:xfrm>
          <a:prstGeom prst="rect">
            <a:avLst/>
          </a:prstGeom>
          <a:noFill/>
          <a:ln/>
        </p:spPr>
        <p:txBody>
          <a:bodyPr wrap="square" lIns="0" tIns="0" rIns="0" bIns="0" rtlCol="0" anchor="ctr"/>
          <a:lstStyle/>
          <a:p>
            <a:pPr marL="0" indent="0">
              <a:buNone/>
            </a:pPr>
            <a:r>
              <a:rPr lang="en-US" sz="1100" dirty="0">
                <a:solidFill>
                  <a:srgbClr val="4B5563"/>
                </a:solidFill>
                <a:latin typeface="Calibri" pitchFamily="34" charset="0"/>
                <a:ea typeface="Calibri" pitchFamily="34" charset="-122"/>
                <a:cs typeface="Calibri" pitchFamily="34" charset="-120"/>
              </a:rPr>
              <a:t>Single pass (released)</a:t>
            </a:r>
            <a:endParaRPr lang="en-US" sz="1100" dirty="0"/>
          </a:p>
        </p:txBody>
      </p:sp>
      <p:sp>
        <p:nvSpPr>
          <p:cNvPr id="12" name="Text 10"/>
          <p:cNvSpPr/>
          <p:nvPr/>
        </p:nvSpPr>
        <p:spPr>
          <a:xfrm>
            <a:off x="640080" y="2318977"/>
            <a:ext cx="5486400" cy="256032"/>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English into Ekegusii</a:t>
            </a:r>
            <a:endParaRPr lang="en-US" sz="1300" dirty="0"/>
          </a:p>
        </p:txBody>
      </p:sp>
      <p:graphicFrame>
        <p:nvGraphicFramePr>
          <p:cNvPr id="13" name="Chart 0"/>
          <p:cNvGraphicFramePr/>
          <p:nvPr>
            <p:extLst>
              <p:ext uri="{D42A27DB-BD31-4B8C-83A1-F6EECF244321}">
                <p14:modId xmlns:p14="http://schemas.microsoft.com/office/powerpoint/2010/main" val="208378185"/>
              </p:ext>
            </p:extLst>
          </p:nvPr>
        </p:nvGraphicFramePr>
        <p:xfrm>
          <a:off x="502920" y="2593297"/>
          <a:ext cx="6035040" cy="3063240"/>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 11"/>
          <p:cNvSpPr/>
          <p:nvPr/>
        </p:nvSpPr>
        <p:spPr>
          <a:xfrm>
            <a:off x="6766560" y="2318977"/>
            <a:ext cx="4572000" cy="256032"/>
          </a:xfrm>
          <a:prstGeom prst="rect">
            <a:avLst/>
          </a:prstGeom>
          <a:noFill/>
          <a:ln/>
        </p:spPr>
        <p:txBody>
          <a:bodyPr wrap="square" lIns="0" tIns="0" rIns="0" bIns="0" rtlCol="0" anchor="ctr"/>
          <a:lstStyle/>
          <a:p>
            <a:pPr marL="0" indent="0">
              <a:buNone/>
            </a:pPr>
            <a:r>
              <a:rPr lang="en-US" sz="1300" b="1" dirty="0">
                <a:solidFill>
                  <a:srgbClr val="16181D"/>
                </a:solidFill>
                <a:latin typeface="Calibri" pitchFamily="34" charset="0"/>
                <a:ea typeface="Calibri" pitchFamily="34" charset="-122"/>
                <a:cs typeface="Calibri" pitchFamily="34" charset="-120"/>
              </a:rPr>
              <a:t>Kiswahili into Ekegusii</a:t>
            </a:r>
            <a:endParaRPr lang="en-US" sz="1300" dirty="0"/>
          </a:p>
        </p:txBody>
      </p:sp>
      <p:graphicFrame>
        <p:nvGraphicFramePr>
          <p:cNvPr id="15" name="Chart 1"/>
          <p:cNvGraphicFramePr/>
          <p:nvPr>
            <p:extLst>
              <p:ext uri="{D42A27DB-BD31-4B8C-83A1-F6EECF244321}">
                <p14:modId xmlns:p14="http://schemas.microsoft.com/office/powerpoint/2010/main" val="3192146198"/>
              </p:ext>
            </p:extLst>
          </p:nvPr>
        </p:nvGraphicFramePr>
        <p:xfrm>
          <a:off x="6629400" y="2593297"/>
          <a:ext cx="4892040" cy="3063240"/>
        </p:xfrm>
        <a:graphic>
          <a:graphicData uri="http://schemas.openxmlformats.org/drawingml/2006/chart">
            <c:chart xmlns:c="http://schemas.openxmlformats.org/drawingml/2006/chart" xmlns:r="http://schemas.openxmlformats.org/officeDocument/2006/relationships" r:id="rId4"/>
          </a:graphicData>
        </a:graphic>
      </p:graphicFrame>
      <p:sp>
        <p:nvSpPr>
          <p:cNvPr id="18"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9"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 IN FULL</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Every system, both metrics, both directions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9052560" cy="3447288"/>
        </p:xfrm>
        <a:graphic>
          <a:graphicData uri="http://schemas.openxmlformats.org/drawingml/2006/table">
            <a:tbl>
              <a:tblPr/>
              <a:tblGrid>
                <a:gridCol w="23317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051560">
                  <a:extLst>
                    <a:ext uri="{9D8B030D-6E8A-4147-A177-3AD203B41FA5}">
                      <a16:colId xmlns:a16="http://schemas.microsoft.com/office/drawing/2014/main" val="20006"/>
                    </a:ext>
                  </a:extLst>
                </a:gridCol>
              </a:tblGrid>
              <a:tr h="265176">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Direction</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Test set</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Stock</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Stage 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Two-stage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b="1" dirty="0">
                          <a:solidFill>
                            <a:srgbClr val="16181D"/>
                          </a:solidFill>
                          <a:latin typeface="Calibri" pitchFamily="34" charset="0"/>
                          <a:ea typeface="Calibri" pitchFamily="34" charset="-122"/>
                          <a:cs typeface="Calibri" pitchFamily="34" charset="-120"/>
                        </a:rPr>
                        <a:t>Released</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65176">
                <a:tc>
                  <a:txBody>
                    <a:bodyPr/>
                    <a:lstStyle/>
                    <a:p>
                      <a:pPr marL="0" indent="0">
                        <a:buNone/>
                      </a:pPr>
                      <a:r>
                        <a:rPr lang="en-US" sz="1050" b="1" dirty="0">
                          <a:solidFill>
                            <a:srgbClr val="293D94"/>
                          </a:solidFill>
                          <a:latin typeface="Calibri" pitchFamily="34" charset="0"/>
                          <a:ea typeface="Calibri" pitchFamily="34" charset="-122"/>
                          <a:cs typeface="Calibri" pitchFamily="34" charset="-120"/>
                        </a:rPr>
                        <a:t>chrF2++</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570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23.96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34.93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40.97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14.88</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49.66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48.95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49.81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Everyday prose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11.41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28.97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29.37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32.98</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371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14.13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24.49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34.50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39.61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49.11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48.80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49.30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5176">
                <a:tc>
                  <a:txBody>
                    <a:bodyPr/>
                    <a:lstStyle/>
                    <a:p>
                      <a:pPr marL="0" indent="0">
                        <a:buNone/>
                      </a:pPr>
                      <a:r>
                        <a:rPr lang="en-US" sz="1050" b="1" dirty="0">
                          <a:solidFill>
                            <a:srgbClr val="293D94"/>
                          </a:solidFill>
                          <a:latin typeface="Calibri" pitchFamily="34" charset="0"/>
                          <a:ea typeface="Calibri" pitchFamily="34" charset="-122"/>
                          <a:cs typeface="Calibri" pitchFamily="34" charset="-120"/>
                        </a:rPr>
                        <a:t>BLEU</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570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2.54</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12.33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0.83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19.75</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19.33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19.91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English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Everyday prose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0.07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1.59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Real PSAs</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371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1.01</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1.77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6.87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10.66</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65176">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Kiswahili to Ekegusii</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dirty="0">
                          <a:solidFill>
                            <a:srgbClr val="16181D"/>
                          </a:solidFill>
                          <a:latin typeface="Calibri" pitchFamily="34" charset="0"/>
                          <a:ea typeface="Calibri" pitchFamily="34" charset="-122"/>
                          <a:cs typeface="Calibri" pitchFamily="34" charset="-120"/>
                        </a:rPr>
                        <a:t>Scripture</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1,463</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lgn="r">
                        <a:buNone/>
                      </a:pPr>
                      <a:r>
                        <a:rPr lang="en-US" sz="1050" dirty="0">
                          <a:solidFill>
                            <a:srgbClr val="16181D"/>
                          </a:solidFill>
                          <a:latin typeface="Calibri" pitchFamily="34" charset="0"/>
                          <a:ea typeface="Calibri" pitchFamily="34" charset="-122"/>
                          <a:cs typeface="Calibri" pitchFamily="34" charset="-120"/>
                        </a:rPr>
                        <a:t>19.79</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tc>
                  <a:txBody>
                    <a:bodyPr/>
                    <a:lstStyle/>
                    <a:p>
                      <a:pPr marL="0" indent="0">
                        <a:buNone/>
                      </a:pPr>
                      <a:r>
                        <a:rPr lang="en-US" sz="1050" b="1" dirty="0">
                          <a:solidFill>
                            <a:srgbClr val="16181D"/>
                          </a:solidFill>
                          <a:latin typeface="Calibri" pitchFamily="34" charset="0"/>
                          <a:ea typeface="Calibri" pitchFamily="34" charset="-122"/>
                          <a:cs typeface="Calibri" pitchFamily="34" charset="-120"/>
                        </a:rPr>
                        <a:t>19.97</a:t>
                      </a:r>
                      <a:endParaRPr lang="en-US" sz="1050" dirty="0">
                        <a:latin typeface="Calibri" charset="0"/>
                        <a:ea typeface="Calibri" charset="0"/>
                        <a:cs typeface="Calibri" charset="0"/>
                      </a:endParaRPr>
                    </a:p>
                  </a:txBody>
                  <a:tcPr anchor="ctr">
                    <a:lnL w="6350" cap="flat" cmpd="sng" algn="ctr">
                      <a:solidFill>
                        <a:srgbClr val="DFE3EC"/>
                      </a:solidFill>
                      <a:prstDash val="solid"/>
                      <a:round/>
                      <a:headEnd type="none" w="med" len="med"/>
                      <a:tailEnd type="none" w="med" len="med"/>
                    </a:lnL>
                    <a:lnR w="6350" cap="flat" cmpd="sng" algn="ctr">
                      <a:solidFill>
                        <a:srgbClr val="DFE3EC"/>
                      </a:solidFill>
                      <a:prstDash val="solid"/>
                      <a:round/>
                      <a:headEnd type="none" w="med" len="med"/>
                      <a:tailEnd type="none" w="med" len="med"/>
                    </a:lnR>
                    <a:lnT w="6350" cap="flat" cmpd="sng" algn="ctr">
                      <a:solidFill>
                        <a:srgbClr val="DFE3EC"/>
                      </a:solidFill>
                      <a:prstDash val="solid"/>
                      <a:round/>
                      <a:headEnd type="none" w="med" len="med"/>
                      <a:tailEnd type="none" w="med" len="med"/>
                    </a:lnT>
                    <a:lnB w="6350" cap="flat" cmpd="sng" algn="ctr">
                      <a:solidFill>
                        <a:srgbClr val="DFE3EC"/>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bl>
          </a:graphicData>
        </a:graphic>
      </p:graphicFrame>
      <p:sp>
        <p:nvSpPr>
          <p:cNvPr id="5" name="Shape 2"/>
          <p:cNvSpPr/>
          <p:nvPr/>
        </p:nvSpPr>
        <p:spPr>
          <a:xfrm>
            <a:off x="640080" y="5486400"/>
            <a:ext cx="10881360" cy="868680"/>
          </a:xfrm>
          <a:prstGeom prst="roundRect">
            <a:avLst>
              <a:gd name="adj" fmla="val 9474"/>
            </a:avLst>
          </a:prstGeom>
          <a:solidFill>
            <a:srgbClr val="F1F3F9"/>
          </a:solidFill>
          <a:ln w="12700">
            <a:solidFill>
              <a:srgbClr val="F1F3F9"/>
            </a:solidFill>
            <a:prstDash val="solid"/>
          </a:ln>
        </p:spPr>
      </p:sp>
      <p:sp>
        <p:nvSpPr>
          <p:cNvPr id="6" name="Text 3"/>
          <p:cNvSpPr/>
          <p:nvPr/>
        </p:nvSpPr>
        <p:spPr>
          <a:xfrm>
            <a:off x="914400" y="5705856"/>
            <a:ext cx="1033272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Stock NLLB cannot produce Ekegusii and was asked for Kikuyu, so its row is a floor rather than a baseline. </a:t>
            </a:r>
          </a:p>
          <a:p>
            <a:pPr marL="0" indent="0">
              <a:buNone/>
            </a:pPr>
            <a:r>
              <a:rPr lang="en-US" sz="1500" b="1" dirty="0">
                <a:solidFill>
                  <a:srgbClr val="16181D"/>
                </a:solidFill>
                <a:latin typeface="Calibri" pitchFamily="34" charset="0"/>
                <a:ea typeface="Calibri" pitchFamily="34" charset="-122"/>
                <a:cs typeface="Calibri" pitchFamily="34" charset="-120"/>
              </a:rPr>
              <a:t>Everyday prose has no Kiswahili row: the Lughayangu corpus is English to Ekegusii only.</a:t>
            </a:r>
            <a:endParaRPr lang="en-US" sz="1500" dirty="0"/>
          </a:p>
        </p:txBody>
      </p:sp>
      <p:sp>
        <p:nvSpPr>
          <p:cNvPr id="7" name="Text 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8" name="Text 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63"/>
        </a:solidFill>
        <a:effectLst/>
      </p:bgPr>
    </p:bg>
    <p:spTree>
      <p:nvGrpSpPr>
        <p:cNvPr id="1" name=""/>
        <p:cNvGrpSpPr/>
        <p:nvPr/>
      </p:nvGrpSpPr>
      <p:grpSpPr>
        <a:xfrm>
          <a:off x="0" y="0"/>
          <a:ext cx="0" cy="0"/>
          <a:chOff x="0" y="0"/>
          <a:chExt cx="0" cy="0"/>
        </a:xfrm>
      </p:grpSpPr>
      <p:sp>
        <p:nvSpPr>
          <p:cNvPr id="2" name="Text 0"/>
          <p:cNvSpPr/>
          <p:nvPr/>
        </p:nvSpPr>
        <p:spPr>
          <a:xfrm>
            <a:off x="640080" y="658368"/>
            <a:ext cx="10881360" cy="274320"/>
          </a:xfrm>
          <a:prstGeom prst="rect">
            <a:avLst/>
          </a:prstGeom>
          <a:noFill/>
          <a:ln/>
        </p:spPr>
        <p:txBody>
          <a:bodyPr wrap="square" lIns="0" tIns="0" rIns="0" bIns="0" rtlCol="0" anchor="ctr"/>
          <a:lstStyle/>
          <a:p>
            <a:pPr marL="0" indent="0">
              <a:buNone/>
            </a:pPr>
            <a:r>
              <a:rPr lang="en-US" sz="1200" b="1" kern="0" spc="240" dirty="0">
                <a:solidFill>
                  <a:srgbClr val="FFCA08"/>
                </a:solidFill>
                <a:latin typeface="Calibri" pitchFamily="34" charset="0"/>
                <a:ea typeface="Calibri" pitchFamily="34" charset="-122"/>
                <a:cs typeface="Calibri" pitchFamily="34" charset="-120"/>
              </a:rPr>
              <a:t>THE FINDING</a:t>
            </a:r>
            <a:endParaRPr lang="en-US" sz="1200" dirty="0"/>
          </a:p>
        </p:txBody>
      </p:sp>
      <p:sp>
        <p:nvSpPr>
          <p:cNvPr id="3" name="Text 1"/>
          <p:cNvSpPr/>
          <p:nvPr/>
        </p:nvSpPr>
        <p:spPr>
          <a:xfrm>
            <a:off x="640080" y="1024128"/>
            <a:ext cx="96012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curriculum lost to its own control</a:t>
            </a:r>
            <a:endParaRPr lang="en-US" sz="3200" dirty="0"/>
          </a:p>
        </p:txBody>
      </p:sp>
      <p:sp>
        <p:nvSpPr>
          <p:cNvPr id="4" name="Text 2"/>
          <p:cNvSpPr/>
          <p:nvPr/>
        </p:nvSpPr>
        <p:spPr>
          <a:xfrm>
            <a:off x="640080" y="1965960"/>
            <a:ext cx="4937760" cy="822960"/>
          </a:xfrm>
          <a:prstGeom prst="rect">
            <a:avLst/>
          </a:prstGeom>
          <a:noFill/>
          <a:ln/>
        </p:spPr>
        <p:txBody>
          <a:bodyPr wrap="square" lIns="0" tIns="0" rIns="0" bIns="0" rtlCol="0" anchor="ctr"/>
          <a:lstStyle/>
          <a:p>
            <a:pPr marL="0" indent="0">
              <a:buNone/>
            </a:pPr>
            <a:r>
              <a:rPr lang="en-US" sz="5600" b="1" dirty="0">
                <a:solidFill>
                  <a:srgbClr val="FFCA08"/>
                </a:solidFill>
                <a:latin typeface="Calibri" pitchFamily="34" charset="0"/>
                <a:ea typeface="Calibri" pitchFamily="34" charset="-122"/>
                <a:cs typeface="Calibri" pitchFamily="34" charset="-120"/>
              </a:rPr>
              <a:t>−6.04</a:t>
            </a:r>
            <a:r>
              <a:rPr lang="en-US" sz="2000" b="1" dirty="0">
                <a:solidFill>
                  <a:srgbClr val="C9D2F0"/>
                </a:solidFill>
                <a:latin typeface="Calibri" pitchFamily="34" charset="0"/>
                <a:ea typeface="Calibri" pitchFamily="34" charset="-122"/>
                <a:cs typeface="Calibri" pitchFamily="34" charset="-120"/>
              </a:rPr>
              <a:t>  chrF2++</a:t>
            </a:r>
            <a:endParaRPr lang="en-US" sz="5600" dirty="0"/>
          </a:p>
        </p:txBody>
      </p:sp>
      <p:sp>
        <p:nvSpPr>
          <p:cNvPr id="5" name="Text 3"/>
          <p:cNvSpPr/>
          <p:nvPr/>
        </p:nvSpPr>
        <p:spPr>
          <a:xfrm>
            <a:off x="640080" y="2834640"/>
            <a:ext cx="4937760" cy="1005840"/>
          </a:xfrm>
          <a:prstGeom prst="rect">
            <a:avLst/>
          </a:prstGeom>
          <a:noFill/>
          <a:ln/>
        </p:spPr>
        <p:txBody>
          <a:bodyPr wrap="square" lIns="0" tIns="0" rIns="0" bIns="0" rtlCol="0" anchor="ctr"/>
          <a:lstStyle/>
          <a:p>
            <a:pPr marL="0" indent="0">
              <a:lnSpc>
                <a:spcPct val="120000"/>
              </a:lnSpc>
              <a:buNone/>
            </a:pPr>
            <a:r>
              <a:rPr lang="en-US" sz="1400" dirty="0">
                <a:solidFill>
                  <a:srgbClr val="C9D2F0"/>
                </a:solidFill>
                <a:latin typeface="Calibri" pitchFamily="34" charset="0"/>
                <a:ea typeface="Calibri" pitchFamily="34" charset="-122"/>
                <a:cs typeface="Calibri" pitchFamily="34" charset="-120"/>
              </a:rPr>
              <a:t>The two-stage curriculum scored 34.93 on real PSAs. Training on the same data in a single pass scored 40.97.</a:t>
            </a:r>
            <a:endParaRPr lang="en-US" sz="1400" dirty="0"/>
          </a:p>
        </p:txBody>
      </p:sp>
      <p:sp>
        <p:nvSpPr>
          <p:cNvPr id="6" name="Shape 4"/>
          <p:cNvSpPr/>
          <p:nvPr/>
        </p:nvSpPr>
        <p:spPr>
          <a:xfrm>
            <a:off x="6035040" y="1965960"/>
            <a:ext cx="5486400" cy="1207008"/>
          </a:xfrm>
          <a:prstGeom prst="roundRect">
            <a:avLst>
              <a:gd name="adj" fmla="val 6061"/>
            </a:avLst>
          </a:prstGeom>
          <a:solidFill>
            <a:srgbClr val="22326F"/>
          </a:solidFill>
          <a:ln w="12700">
            <a:solidFill>
              <a:srgbClr val="22326F"/>
            </a:solidFill>
            <a:prstDash val="solid"/>
          </a:ln>
        </p:spPr>
      </p:sp>
      <p:sp>
        <p:nvSpPr>
          <p:cNvPr id="7" name="Text 5"/>
          <p:cNvSpPr/>
          <p:nvPr/>
        </p:nvSpPr>
        <p:spPr>
          <a:xfrm>
            <a:off x="6263640" y="21122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Not a data advantage</a:t>
            </a:r>
            <a:endParaRPr lang="en-US" sz="1400" dirty="0"/>
          </a:p>
        </p:txBody>
      </p:sp>
      <p:sp>
        <p:nvSpPr>
          <p:cNvPr id="8" name="Text 6"/>
          <p:cNvSpPr/>
          <p:nvPr/>
        </p:nvSpPr>
        <p:spPr>
          <a:xfrm>
            <a:off x="6263640" y="24231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The single pass sees every unique example the curriculum sees. The replay slice is duplicated scripture, not new material.</a:t>
            </a:r>
            <a:endParaRPr lang="en-US" sz="1150" dirty="0"/>
          </a:p>
        </p:txBody>
      </p:sp>
      <p:sp>
        <p:nvSpPr>
          <p:cNvPr id="9" name="Shape 7"/>
          <p:cNvSpPr/>
          <p:nvPr/>
        </p:nvSpPr>
        <p:spPr>
          <a:xfrm>
            <a:off x="6035040" y="3337560"/>
            <a:ext cx="5486400" cy="1207008"/>
          </a:xfrm>
          <a:prstGeom prst="roundRect">
            <a:avLst>
              <a:gd name="adj" fmla="val 6061"/>
            </a:avLst>
          </a:prstGeom>
          <a:solidFill>
            <a:srgbClr val="22326F"/>
          </a:solidFill>
          <a:ln w="12700">
            <a:solidFill>
              <a:srgbClr val="22326F"/>
            </a:solidFill>
            <a:prstDash val="solid"/>
          </a:ln>
        </p:spPr>
      </p:sp>
      <p:sp>
        <p:nvSpPr>
          <p:cNvPr id="10" name="Text 8"/>
          <p:cNvSpPr/>
          <p:nvPr/>
        </p:nvSpPr>
        <p:spPr>
          <a:xfrm>
            <a:off x="6263640" y="34838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Not a compute advantage</a:t>
            </a:r>
            <a:endParaRPr lang="en-US" sz="1400" dirty="0"/>
          </a:p>
        </p:txBody>
      </p:sp>
      <p:sp>
        <p:nvSpPr>
          <p:cNvPr id="11" name="Text 9"/>
          <p:cNvSpPr/>
          <p:nvPr/>
        </p:nvSpPr>
        <p:spPr>
          <a:xfrm>
            <a:off x="6263640" y="37947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At equal epochs the two-stage run takes about 9% more gradient updates, because replayed rows are trained on twice. It had more compute and still lost.</a:t>
            </a:r>
            <a:endParaRPr lang="en-US" sz="1150" dirty="0"/>
          </a:p>
        </p:txBody>
      </p:sp>
      <p:sp>
        <p:nvSpPr>
          <p:cNvPr id="12" name="Shape 10"/>
          <p:cNvSpPr/>
          <p:nvPr/>
        </p:nvSpPr>
        <p:spPr>
          <a:xfrm>
            <a:off x="6035040" y="4709160"/>
            <a:ext cx="5486400" cy="1207008"/>
          </a:xfrm>
          <a:prstGeom prst="roundRect">
            <a:avLst>
              <a:gd name="adj" fmla="val 6061"/>
            </a:avLst>
          </a:prstGeom>
          <a:solidFill>
            <a:srgbClr val="22326F"/>
          </a:solidFill>
          <a:ln w="12700">
            <a:solidFill>
              <a:srgbClr val="22326F"/>
            </a:solidFill>
            <a:prstDash val="solid"/>
          </a:ln>
        </p:spPr>
      </p:sp>
      <p:sp>
        <p:nvSpPr>
          <p:cNvPr id="13" name="Text 11"/>
          <p:cNvSpPr/>
          <p:nvPr/>
        </p:nvSpPr>
        <p:spPr>
          <a:xfrm>
            <a:off x="6263640" y="4855464"/>
            <a:ext cx="502920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plausible mechanism</a:t>
            </a:r>
            <a:endParaRPr lang="en-US" sz="1400" dirty="0"/>
          </a:p>
        </p:txBody>
      </p:sp>
      <p:sp>
        <p:nvSpPr>
          <p:cNvPr id="14" name="Text 12"/>
          <p:cNvSpPr/>
          <p:nvPr/>
        </p:nvSpPr>
        <p:spPr>
          <a:xfrm>
            <a:off x="6263640" y="5166360"/>
            <a:ext cx="5029200" cy="658368"/>
          </a:xfrm>
          <a:prstGeom prst="rect">
            <a:avLst/>
          </a:prstGeom>
          <a:noFill/>
          <a:ln/>
        </p:spPr>
        <p:txBody>
          <a:bodyPr wrap="square" lIns="0" tIns="0" rIns="0" bIns="0" rtlCol="0" anchor="ctr"/>
          <a:lstStyle/>
          <a:p>
            <a:pPr marL="0" indent="0">
              <a:lnSpc>
                <a:spcPct val="110000"/>
              </a:lnSpc>
              <a:buNone/>
            </a:pPr>
            <a:r>
              <a:rPr lang="en-US" sz="1150" dirty="0">
                <a:solidFill>
                  <a:srgbClr val="B9C4E8"/>
                </a:solidFill>
                <a:latin typeface="Calibri" pitchFamily="34" charset="0"/>
                <a:ea typeface="Calibri" pitchFamily="34" charset="-122"/>
                <a:cs typeface="Calibri" pitchFamily="34" charset="-120"/>
              </a:rPr>
              <a:t>Stage 2's dev loss bottomed at 1.357 and drifted back to 1.417, it overfitted a small, PSA-heavy set. The single pass sees PSAs interleaved with scripture throughout, which regularises it.</a:t>
            </a:r>
            <a:endParaRPr lang="en-US" sz="1150" dirty="0"/>
          </a:p>
        </p:txBody>
      </p:sp>
      <p:sp>
        <p:nvSpPr>
          <p:cNvPr id="15" name="Text 13"/>
          <p:cNvSpPr/>
          <p:nvPr/>
        </p:nvSpPr>
        <p:spPr>
          <a:xfrm>
            <a:off x="640080" y="5923593"/>
            <a:ext cx="10881360" cy="457200"/>
          </a:xfrm>
          <a:prstGeom prst="rect">
            <a:avLst/>
          </a:prstGeom>
          <a:noFill/>
          <a:ln/>
        </p:spPr>
        <p:txBody>
          <a:bodyPr wrap="square" lIns="0" tIns="0" rIns="0" bIns="0" rtlCol="0" anchor="ctr"/>
          <a:lstStyle/>
          <a:p>
            <a:pPr marL="0" indent="0">
              <a:buNone/>
            </a:pPr>
            <a:r>
              <a:rPr lang="en-US" sz="1400" i="1" dirty="0">
                <a:solidFill>
                  <a:srgbClr val="FFCA08"/>
                </a:solidFill>
                <a:latin typeface="Calibri" pitchFamily="34" charset="0"/>
                <a:ea typeface="Calibri" pitchFamily="34" charset="-122"/>
                <a:cs typeface="Calibri" pitchFamily="34" charset="-120"/>
              </a:rPr>
              <a:t>A control that falsifies your hypothesis is a result, not a failure. It is also the reason the number can be trusted.</a:t>
            </a:r>
            <a:endParaRPr lang="en-US" sz="1400" dirty="0"/>
          </a:p>
        </p:txBody>
      </p:sp>
      <p:sp>
        <p:nvSpPr>
          <p:cNvPr id="16" name="Text 14"/>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17" name="Text 15"/>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RESULTS IN CONTEXT</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the released model actually achieves</a:t>
            </a:r>
            <a:endParaRPr lang="en-US" sz="3000" dirty="0"/>
          </a:p>
        </p:txBody>
      </p:sp>
      <p:sp>
        <p:nvSpPr>
          <p:cNvPr id="4" name="Text 2"/>
          <p:cNvSpPr/>
          <p:nvPr/>
        </p:nvSpPr>
        <p:spPr>
          <a:xfrm>
            <a:off x="64008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40.97</a:t>
            </a:r>
            <a:endParaRPr lang="en-US" sz="4600" dirty="0"/>
          </a:p>
        </p:txBody>
      </p:sp>
      <p:sp>
        <p:nvSpPr>
          <p:cNvPr id="5" name="Text 3"/>
          <p:cNvSpPr/>
          <p:nvPr/>
        </p:nvSpPr>
        <p:spPr>
          <a:xfrm>
            <a:off x="64008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chrF2++ on real Kenyan PSAs, English → Ekegusii</a:t>
            </a:r>
            <a:endParaRPr lang="en-US" sz="1150" dirty="0"/>
          </a:p>
        </p:txBody>
      </p:sp>
      <p:sp>
        <p:nvSpPr>
          <p:cNvPr id="6" name="Text 4"/>
          <p:cNvSpPr/>
          <p:nvPr/>
        </p:nvSpPr>
        <p:spPr>
          <a:xfrm>
            <a:off x="352044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+181%</a:t>
            </a:r>
            <a:endParaRPr lang="en-US" sz="4600" dirty="0"/>
          </a:p>
        </p:txBody>
      </p:sp>
      <p:sp>
        <p:nvSpPr>
          <p:cNvPr id="7" name="Text 5"/>
          <p:cNvSpPr/>
          <p:nvPr/>
        </p:nvSpPr>
        <p:spPr>
          <a:xfrm>
            <a:off x="352044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relative gain over the no-Ekegusii floor</a:t>
            </a:r>
            <a:endParaRPr lang="en-US" sz="1150" dirty="0"/>
          </a:p>
        </p:txBody>
      </p:sp>
      <p:sp>
        <p:nvSpPr>
          <p:cNvPr id="8" name="Text 6"/>
          <p:cNvSpPr/>
          <p:nvPr/>
        </p:nvSpPr>
        <p:spPr>
          <a:xfrm>
            <a:off x="6400800" y="1691640"/>
            <a:ext cx="2651760" cy="658368"/>
          </a:xfrm>
          <a:prstGeom prst="rect">
            <a:avLst/>
          </a:prstGeom>
          <a:noFill/>
          <a:ln/>
        </p:spPr>
        <p:txBody>
          <a:bodyPr wrap="square" lIns="0" tIns="0" rIns="0" bIns="0" rtlCol="0" anchor="ctr"/>
          <a:lstStyle/>
          <a:p>
            <a:pPr marL="0" indent="0">
              <a:buNone/>
            </a:pPr>
            <a:r>
              <a:rPr lang="en-US" sz="4600" b="1" dirty="0">
                <a:solidFill>
                  <a:srgbClr val="293D94"/>
                </a:solidFill>
                <a:latin typeface="Calibri" pitchFamily="34" charset="0"/>
                <a:ea typeface="Calibri" pitchFamily="34" charset="-122"/>
                <a:cs typeface="Calibri" pitchFamily="34" charset="-120"/>
              </a:rPr>
              <a:t>+17.0</a:t>
            </a:r>
            <a:endParaRPr lang="en-US" sz="4600" dirty="0"/>
          </a:p>
        </p:txBody>
      </p:sp>
      <p:sp>
        <p:nvSpPr>
          <p:cNvPr id="9" name="Text 7"/>
          <p:cNvSpPr/>
          <p:nvPr/>
        </p:nvSpPr>
        <p:spPr>
          <a:xfrm>
            <a:off x="6400800" y="2313432"/>
            <a:ext cx="26517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over stage 1 — the value of PSA adaptation</a:t>
            </a:r>
            <a:endParaRPr lang="en-US" sz="1150" dirty="0"/>
          </a:p>
        </p:txBody>
      </p:sp>
      <p:sp>
        <p:nvSpPr>
          <p:cNvPr id="10" name="Text 8"/>
          <p:cNvSpPr/>
          <p:nvPr/>
        </p:nvSpPr>
        <p:spPr>
          <a:xfrm>
            <a:off x="9281160" y="1691640"/>
            <a:ext cx="2194560" cy="658368"/>
          </a:xfrm>
          <a:prstGeom prst="rect">
            <a:avLst/>
          </a:prstGeom>
          <a:noFill/>
          <a:ln/>
        </p:spPr>
        <p:txBody>
          <a:bodyPr wrap="square" lIns="0" tIns="0" rIns="0" bIns="0" rtlCol="0" anchor="ctr"/>
          <a:lstStyle/>
          <a:p>
            <a:pPr marL="0" indent="0">
              <a:buNone/>
            </a:pPr>
            <a:r>
              <a:rPr lang="en-US" sz="4600" b="1" dirty="0">
                <a:solidFill>
                  <a:srgbClr val="1A7F52"/>
                </a:solidFill>
                <a:latin typeface="Calibri" pitchFamily="34" charset="0"/>
                <a:ea typeface="Calibri" pitchFamily="34" charset="-122"/>
                <a:cs typeface="Calibri" pitchFamily="34" charset="-120"/>
              </a:rPr>
              <a:t>0</a:t>
            </a:r>
            <a:endParaRPr lang="en-US" sz="4600" dirty="0"/>
          </a:p>
        </p:txBody>
      </p:sp>
      <p:sp>
        <p:nvSpPr>
          <p:cNvPr id="11" name="Text 9"/>
          <p:cNvSpPr/>
          <p:nvPr/>
        </p:nvSpPr>
        <p:spPr>
          <a:xfrm>
            <a:off x="9281160" y="2313432"/>
            <a:ext cx="2194560" cy="457200"/>
          </a:xfrm>
          <a:prstGeom prst="rect">
            <a:avLst/>
          </a:prstGeom>
          <a:noFill/>
          <a:ln/>
        </p:spPr>
        <p:txBody>
          <a:bodyPr wrap="square" lIns="0" tIns="0" rIns="0" bIns="0" rtlCol="0" anchor="t"/>
          <a:lstStyle/>
          <a:p>
            <a:pPr marL="0" indent="0">
              <a:lnSpc>
                <a:spcPct val="105000"/>
              </a:lnSpc>
              <a:buNone/>
            </a:pPr>
            <a:r>
              <a:rPr lang="en-US" sz="1150" dirty="0">
                <a:solidFill>
                  <a:srgbClr val="4B5563"/>
                </a:solidFill>
                <a:latin typeface="Calibri" pitchFamily="34" charset="0"/>
                <a:ea typeface="Calibri" pitchFamily="34" charset="-122"/>
                <a:cs typeface="Calibri" pitchFamily="34" charset="-120"/>
              </a:rPr>
              <a:t>measurable forgetting of general Ekegusii</a:t>
            </a:r>
            <a:endParaRPr lang="en-US" sz="1150" dirty="0"/>
          </a:p>
        </p:txBody>
      </p:sp>
      <p:sp>
        <p:nvSpPr>
          <p:cNvPr id="12" name="Shape 10"/>
          <p:cNvSpPr/>
          <p:nvPr/>
        </p:nvSpPr>
        <p:spPr>
          <a:xfrm>
            <a:off x="640080" y="3337560"/>
            <a:ext cx="5303520" cy="1371600"/>
          </a:xfrm>
          <a:prstGeom prst="roundRect">
            <a:avLst>
              <a:gd name="adj" fmla="val 6000"/>
            </a:avLst>
          </a:prstGeom>
          <a:solidFill>
            <a:srgbClr val="F1F3F9"/>
          </a:solidFill>
          <a:ln w="12700">
            <a:solidFill>
              <a:srgbClr val="F1F3F9"/>
            </a:solidFill>
            <a:prstDash val="solid"/>
          </a:ln>
        </p:spPr>
      </p:sp>
      <p:sp>
        <p:nvSpPr>
          <p:cNvPr id="13" name="Text 11"/>
          <p:cNvSpPr/>
          <p:nvPr/>
        </p:nvSpPr>
        <p:spPr>
          <a:xfrm>
            <a:off x="914400" y="3557016"/>
            <a:ext cx="475488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It does not forget</a:t>
            </a:r>
            <a:endParaRPr lang="en-US" sz="1500" dirty="0"/>
          </a:p>
        </p:txBody>
      </p:sp>
      <p:sp>
        <p:nvSpPr>
          <p:cNvPr id="14" name="Text 12"/>
          <p:cNvSpPr/>
          <p:nvPr/>
        </p:nvSpPr>
        <p:spPr>
          <a:xfrm>
            <a:off x="914400" y="3886200"/>
            <a:ext cx="4754880"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released model scores 49.81 on held-out scripture — higher than the model trained on scripture alone. Joint training simply does not create the forgetting problem that replay was designed to solve.</a:t>
            </a:r>
            <a:endParaRPr lang="en-US" sz="1250" dirty="0"/>
          </a:p>
        </p:txBody>
      </p:sp>
      <p:sp>
        <p:nvSpPr>
          <p:cNvPr id="15" name="Shape 13"/>
          <p:cNvSpPr/>
          <p:nvPr/>
        </p:nvSpPr>
        <p:spPr>
          <a:xfrm>
            <a:off x="6217920" y="3337560"/>
            <a:ext cx="5303520" cy="1371600"/>
          </a:xfrm>
          <a:prstGeom prst="roundRect">
            <a:avLst>
              <a:gd name="adj" fmla="val 6000"/>
            </a:avLst>
          </a:prstGeom>
          <a:solidFill>
            <a:srgbClr val="FFF7DE"/>
          </a:solidFill>
          <a:ln w="12700">
            <a:solidFill>
              <a:srgbClr val="FFF7DE"/>
            </a:solidFill>
            <a:prstDash val="solid"/>
          </a:ln>
        </p:spPr>
      </p:sp>
      <p:sp>
        <p:nvSpPr>
          <p:cNvPr id="16" name="Text 14"/>
          <p:cNvSpPr/>
          <p:nvPr/>
        </p:nvSpPr>
        <p:spPr>
          <a:xfrm>
            <a:off x="6492240" y="3557016"/>
            <a:ext cx="4754880"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It generalises beyond both domains</a:t>
            </a:r>
            <a:endParaRPr lang="en-US" sz="1500" dirty="0"/>
          </a:p>
        </p:txBody>
      </p:sp>
      <p:sp>
        <p:nvSpPr>
          <p:cNvPr id="17" name="Text 15"/>
          <p:cNvSpPr/>
          <p:nvPr/>
        </p:nvSpPr>
        <p:spPr>
          <a:xfrm>
            <a:off x="6492240" y="3886200"/>
            <a:ext cx="4754880" cy="62179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32.98 on contemporary everyday prose, against 28.97 for the scripture-only model — so the gain is not simply memorising PSA phrasing.</a:t>
            </a:r>
            <a:endParaRPr lang="en-US" sz="1250" dirty="0"/>
          </a:p>
        </p:txBody>
      </p:sp>
      <p:sp>
        <p:nvSpPr>
          <p:cNvPr id="18" name="Shape 16"/>
          <p:cNvSpPr/>
          <p:nvPr/>
        </p:nvSpPr>
        <p:spPr>
          <a:xfrm>
            <a:off x="640080" y="4846320"/>
            <a:ext cx="10881360" cy="1051560"/>
          </a:xfrm>
          <a:prstGeom prst="roundRect">
            <a:avLst>
              <a:gd name="adj" fmla="val 7826"/>
            </a:avLst>
          </a:prstGeom>
          <a:solidFill>
            <a:srgbClr val="F1F3F9"/>
          </a:solidFill>
          <a:ln w="12700">
            <a:solidFill>
              <a:srgbClr val="F1F3F9"/>
            </a:solidFill>
            <a:prstDash val="solid"/>
          </a:ln>
        </p:spPr>
      </p:sp>
      <p:sp>
        <p:nvSpPr>
          <p:cNvPr id="19" name="Shape 17"/>
          <p:cNvSpPr/>
          <p:nvPr/>
        </p:nvSpPr>
        <p:spPr>
          <a:xfrm>
            <a:off x="877824" y="5084064"/>
            <a:ext cx="402336" cy="402336"/>
          </a:xfrm>
          <a:prstGeom prst="ellipse">
            <a:avLst/>
          </a:prstGeom>
          <a:solidFill>
            <a:srgbClr val="293D94"/>
          </a:solidFill>
          <a:ln w="12700">
            <a:solidFill>
              <a:srgbClr val="293D94"/>
            </a:solidFill>
            <a:prstDash val="solid"/>
          </a:ln>
        </p:spPr>
      </p:sp>
      <p:sp>
        <p:nvSpPr>
          <p:cNvPr id="20" name="Text 18"/>
          <p:cNvSpPr/>
          <p:nvPr/>
        </p:nvSpPr>
        <p:spPr>
          <a:xfrm>
            <a:off x="877824" y="50840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426464" y="506577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Three checkpoints published, each verified by weight fingerprint</a:t>
            </a:r>
            <a:endParaRPr lang="en-US" sz="1500" dirty="0"/>
          </a:p>
        </p:txBody>
      </p:sp>
      <p:sp>
        <p:nvSpPr>
          <p:cNvPr id="22" name="Text 20"/>
          <p:cNvSpPr/>
          <p:nvPr/>
        </p:nvSpPr>
        <p:spPr>
          <a:xfrm>
            <a:off x="1426464" y="5394960"/>
            <a:ext cx="9820656" cy="30175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Baseline, curriculum and released model are all on Hugging Face, so the comparison can be reproduced rather than taken on trust.</a:t>
            </a:r>
            <a:endParaRPr lang="en-US" sz="1250" dirty="0"/>
          </a:p>
        </p:txBody>
      </p:sp>
      <p:sp>
        <p:nvSpPr>
          <p:cNvPr id="23" name="Text 21"/>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4" name="Text 22"/>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LIMITATIONS</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What this project cannot claim</a:t>
            </a:r>
            <a:endParaRPr lang="en-US" sz="3000" dirty="0"/>
          </a:p>
        </p:txBody>
      </p:sp>
      <p:sp>
        <p:nvSpPr>
          <p:cNvPr id="4" name="Shape 2"/>
          <p:cNvSpPr/>
          <p:nvPr/>
        </p:nvSpPr>
        <p:spPr>
          <a:xfrm>
            <a:off x="640080" y="1691640"/>
            <a:ext cx="5303520" cy="1417320"/>
          </a:xfrm>
          <a:prstGeom prst="roundRect">
            <a:avLst>
              <a:gd name="adj" fmla="val 5806"/>
            </a:avLst>
          </a:prstGeom>
          <a:solidFill>
            <a:srgbClr val="F1F3F9"/>
          </a:solidFill>
          <a:ln w="12700">
            <a:solidFill>
              <a:srgbClr val="F1F3F9"/>
            </a:solidFill>
            <a:prstDash val="solid"/>
          </a:ln>
        </p:spPr>
      </p:sp>
      <p:sp>
        <p:nvSpPr>
          <p:cNvPr id="5" name="Shape 3"/>
          <p:cNvSpPr/>
          <p:nvPr/>
        </p:nvSpPr>
        <p:spPr>
          <a:xfrm>
            <a:off x="877824" y="192938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No human evaluation</a:t>
            </a:r>
            <a:endParaRPr lang="en-US" sz="1500" dirty="0"/>
          </a:p>
        </p:txBody>
      </p:sp>
      <p:sp>
        <p:nvSpPr>
          <p:cNvPr id="8" name="Text 6"/>
          <p:cNvSpPr/>
          <p:nvPr/>
        </p:nvSpPr>
        <p:spPr>
          <a:xfrm>
            <a:off x="1426464" y="2240280"/>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Every number here is an automatic metric against a single reference. No fluency, adequacy or cultural-accuracy ratings have been collected from Ekegusii speakers. This is the largest outstanding gap.</a:t>
            </a:r>
            <a:endParaRPr lang="en-US" sz="1250" dirty="0"/>
          </a:p>
        </p:txBody>
      </p:sp>
      <p:sp>
        <p:nvSpPr>
          <p:cNvPr id="9" name="Shape 7"/>
          <p:cNvSpPr/>
          <p:nvPr/>
        </p:nvSpPr>
        <p:spPr>
          <a:xfrm>
            <a:off x="6217920" y="1691640"/>
            <a:ext cx="5303520" cy="1417320"/>
          </a:xfrm>
          <a:prstGeom prst="roundRect">
            <a:avLst>
              <a:gd name="adj" fmla="val 5806"/>
            </a:avLst>
          </a:prstGeom>
          <a:solidFill>
            <a:srgbClr val="F1F3F9"/>
          </a:solidFill>
          <a:ln w="12700">
            <a:solidFill>
              <a:srgbClr val="F1F3F9"/>
            </a:solidFill>
            <a:prstDash val="solid"/>
          </a:ln>
        </p:spPr>
      </p:sp>
      <p:sp>
        <p:nvSpPr>
          <p:cNvPr id="10" name="Shape 8"/>
          <p:cNvSpPr/>
          <p:nvPr/>
        </p:nvSpPr>
        <p:spPr>
          <a:xfrm>
            <a:off x="6455664" y="1929384"/>
            <a:ext cx="402336" cy="402336"/>
          </a:xfrm>
          <a:prstGeom prst="ellipse">
            <a:avLst/>
          </a:prstGeom>
          <a:solidFill>
            <a:srgbClr val="293D94"/>
          </a:solidFill>
          <a:ln w="12700">
            <a:solidFill>
              <a:srgbClr val="293D94"/>
            </a:solidFill>
            <a:prstDash val="solid"/>
          </a:ln>
        </p:spPr>
      </p:sp>
      <p:sp>
        <p:nvSpPr>
          <p:cNvPr id="11" name="Text 9"/>
          <p:cNvSpPr/>
          <p:nvPr/>
        </p:nvSpPr>
        <p:spPr>
          <a:xfrm>
            <a:off x="6455664" y="192938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7004304" y="1911096"/>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Unverified references</a:t>
            </a:r>
            <a:endParaRPr lang="en-US" sz="1500" dirty="0"/>
          </a:p>
        </p:txBody>
      </p:sp>
      <p:sp>
        <p:nvSpPr>
          <p:cNvPr id="13" name="Text 11"/>
          <p:cNvSpPr/>
          <p:nvPr/>
        </p:nvSpPr>
        <p:spPr>
          <a:xfrm>
            <a:off x="7004304" y="2240280"/>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PSA Ekegusii was supplied by the supervisor. The translator and quality-assurance process are unknown and no inter-annotator agreement exists.</a:t>
            </a:r>
            <a:endParaRPr lang="en-US" sz="1250" dirty="0"/>
          </a:p>
        </p:txBody>
      </p:sp>
      <p:sp>
        <p:nvSpPr>
          <p:cNvPr id="14" name="Shape 12"/>
          <p:cNvSpPr/>
          <p:nvPr/>
        </p:nvSpPr>
        <p:spPr>
          <a:xfrm>
            <a:off x="640080" y="3264408"/>
            <a:ext cx="5303520" cy="1417320"/>
          </a:xfrm>
          <a:prstGeom prst="roundRect">
            <a:avLst>
              <a:gd name="adj" fmla="val 5806"/>
            </a:avLst>
          </a:prstGeom>
          <a:solidFill>
            <a:srgbClr val="F1F3F9"/>
          </a:solidFill>
          <a:ln w="12700">
            <a:solidFill>
              <a:srgbClr val="F1F3F9"/>
            </a:solidFill>
            <a:prstDash val="solid"/>
          </a:ln>
        </p:spPr>
      </p:sp>
      <p:sp>
        <p:nvSpPr>
          <p:cNvPr id="15" name="Shape 13"/>
          <p:cNvSpPr/>
          <p:nvPr/>
        </p:nvSpPr>
        <p:spPr>
          <a:xfrm>
            <a:off x="877824" y="3502152"/>
            <a:ext cx="402336" cy="402336"/>
          </a:xfrm>
          <a:prstGeom prst="ellipse">
            <a:avLst/>
          </a:prstGeom>
          <a:solidFill>
            <a:srgbClr val="293D94"/>
          </a:solidFill>
          <a:ln w="12700">
            <a:solidFill>
              <a:srgbClr val="293D94"/>
            </a:solidFill>
            <a:prstDash val="solid"/>
          </a:ln>
        </p:spPr>
      </p:sp>
      <p:sp>
        <p:nvSpPr>
          <p:cNvPr id="16" name="Text 14"/>
          <p:cNvSpPr/>
          <p:nvPr/>
        </p:nvSpPr>
        <p:spPr>
          <a:xfrm>
            <a:off x="877824" y="35021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1426464" y="348386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Scripture-heavy mixture</a:t>
            </a:r>
            <a:endParaRPr lang="en-US" sz="1500" dirty="0"/>
          </a:p>
        </p:txBody>
      </p:sp>
      <p:sp>
        <p:nvSpPr>
          <p:cNvPr id="18" name="Text 16"/>
          <p:cNvSpPr/>
          <p:nvPr/>
        </p:nvSpPr>
        <p:spPr>
          <a:xfrm>
            <a:off x="1426464" y="3813048"/>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About 57,000 of the 62,669 unique parallel pairs are Bible verses, so the model may still lean formal on unfamiliar input.</a:t>
            </a:r>
            <a:endParaRPr lang="en-US" sz="1250" dirty="0"/>
          </a:p>
        </p:txBody>
      </p:sp>
      <p:sp>
        <p:nvSpPr>
          <p:cNvPr id="19" name="Shape 17"/>
          <p:cNvSpPr/>
          <p:nvPr/>
        </p:nvSpPr>
        <p:spPr>
          <a:xfrm>
            <a:off x="6217920" y="3264408"/>
            <a:ext cx="5303520" cy="1417320"/>
          </a:xfrm>
          <a:prstGeom prst="roundRect">
            <a:avLst>
              <a:gd name="adj" fmla="val 5806"/>
            </a:avLst>
          </a:prstGeom>
          <a:solidFill>
            <a:srgbClr val="F1F3F9"/>
          </a:solidFill>
          <a:ln w="12700">
            <a:solidFill>
              <a:srgbClr val="F1F3F9"/>
            </a:solidFill>
            <a:prstDash val="solid"/>
          </a:ln>
        </p:spPr>
      </p:sp>
      <p:sp>
        <p:nvSpPr>
          <p:cNvPr id="20" name="Shape 18"/>
          <p:cNvSpPr/>
          <p:nvPr/>
        </p:nvSpPr>
        <p:spPr>
          <a:xfrm>
            <a:off x="6455664" y="3502152"/>
            <a:ext cx="402336" cy="402336"/>
          </a:xfrm>
          <a:prstGeom prst="ellipse">
            <a:avLst/>
          </a:prstGeom>
          <a:solidFill>
            <a:srgbClr val="293D94"/>
          </a:solidFill>
          <a:ln w="12700">
            <a:solidFill>
              <a:srgbClr val="293D94"/>
            </a:solidFill>
            <a:prstDash val="solid"/>
          </a:ln>
        </p:spPr>
      </p:sp>
      <p:sp>
        <p:nvSpPr>
          <p:cNvPr id="21" name="Text 19"/>
          <p:cNvSpPr/>
          <p:nvPr/>
        </p:nvSpPr>
        <p:spPr>
          <a:xfrm>
            <a:off x="6455664" y="3502152"/>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7004304" y="3483864"/>
            <a:ext cx="424281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Institutional vocabulary</a:t>
            </a:r>
            <a:endParaRPr lang="en-US" sz="1500" dirty="0"/>
          </a:p>
        </p:txBody>
      </p:sp>
      <p:sp>
        <p:nvSpPr>
          <p:cNvPr id="23" name="Text 21"/>
          <p:cNvSpPr/>
          <p:nvPr/>
        </p:nvSpPr>
        <p:spPr>
          <a:xfrm>
            <a:off x="7004304" y="3813048"/>
            <a:ext cx="4242816" cy="66751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53.6% content-word gap was measured, not solved. HELB, KUCCPS and iTax remain the weakest cases — and the confidence score does not catch them.</a:t>
            </a:r>
            <a:endParaRPr lang="en-US" sz="1250" dirty="0"/>
          </a:p>
        </p:txBody>
      </p:sp>
      <p:sp>
        <p:nvSpPr>
          <p:cNvPr id="24" name="Text 22"/>
          <p:cNvSpPr/>
          <p:nvPr/>
        </p:nvSpPr>
        <p:spPr>
          <a:xfrm>
            <a:off x="640080" y="5029200"/>
            <a:ext cx="10881360" cy="457200"/>
          </a:xfrm>
          <a:prstGeom prst="rect">
            <a:avLst/>
          </a:prstGeom>
          <a:noFill/>
          <a:ln/>
        </p:spPr>
        <p:txBody>
          <a:bodyPr wrap="square" lIns="0" tIns="0" rIns="0" bIns="0" rtlCol="0" anchor="ctr"/>
          <a:lstStyle/>
          <a:p>
            <a:pPr marL="0" indent="0">
              <a:buNone/>
            </a:pPr>
            <a:r>
              <a:rPr lang="en-US" sz="1350" b="1" dirty="0">
                <a:solidFill>
                  <a:srgbClr val="B23B3A"/>
                </a:solidFill>
                <a:latin typeface="Calibri" pitchFamily="34" charset="0"/>
                <a:ea typeface="Calibri" pitchFamily="34" charset="-122"/>
                <a:cs typeface="Calibri" pitchFamily="34" charset="-120"/>
              </a:rPr>
              <a:t>Not suitable for medical, legal or emergency communication without review by a fluent Ekegusii speaker.</a:t>
            </a:r>
            <a:endParaRPr lang="en-US" sz="135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40080" y="384048"/>
            <a:ext cx="10881360" cy="256032"/>
          </a:xfrm>
          <a:prstGeom prst="rect">
            <a:avLst/>
          </a:prstGeom>
          <a:noFill/>
          <a:ln/>
        </p:spPr>
        <p:txBody>
          <a:bodyPr wrap="square" lIns="0" tIns="0" rIns="0" bIns="0" rtlCol="0" anchor="ctr"/>
          <a:lstStyle/>
          <a:p>
            <a:pPr marL="0" indent="0">
              <a:buNone/>
            </a:pPr>
            <a:r>
              <a:rPr lang="en-US" sz="1200" b="1" kern="0" spc="240" dirty="0">
                <a:solidFill>
                  <a:srgbClr val="293D94"/>
                </a:solidFill>
                <a:latin typeface="Calibri" pitchFamily="34" charset="0"/>
                <a:ea typeface="Calibri" pitchFamily="34" charset="-122"/>
                <a:cs typeface="Calibri" pitchFamily="34" charset="-120"/>
              </a:rPr>
              <a:t>DEPLOYMENT</a:t>
            </a:r>
            <a:endParaRPr lang="en-US" sz="1200" dirty="0"/>
          </a:p>
        </p:txBody>
      </p:sp>
      <p:sp>
        <p:nvSpPr>
          <p:cNvPr id="3" name="Text 1"/>
          <p:cNvSpPr/>
          <p:nvPr/>
        </p:nvSpPr>
        <p:spPr>
          <a:xfrm>
            <a:off x="640080" y="658368"/>
            <a:ext cx="10881360" cy="658368"/>
          </a:xfrm>
          <a:prstGeom prst="rect">
            <a:avLst/>
          </a:prstGeom>
          <a:noFill/>
          <a:ln/>
        </p:spPr>
        <p:txBody>
          <a:bodyPr wrap="square" lIns="0" tIns="0" rIns="0" bIns="0" rtlCol="0" anchor="t"/>
          <a:lstStyle/>
          <a:p>
            <a:pPr marL="0" indent="0">
              <a:buNone/>
            </a:pPr>
            <a:r>
              <a:rPr lang="en-US" sz="3000" b="1" dirty="0">
                <a:solidFill>
                  <a:srgbClr val="16181D"/>
                </a:solidFill>
                <a:latin typeface="Cambria" pitchFamily="34" charset="0"/>
                <a:ea typeface="Cambria" pitchFamily="34" charset="-122"/>
                <a:cs typeface="Cambria" pitchFamily="34" charset="-120"/>
              </a:rPr>
              <a:t>A working translator, and a way to collect corrections</a:t>
            </a:r>
            <a:endParaRPr lang="en-US" sz="3000" dirty="0"/>
          </a:p>
        </p:txBody>
      </p:sp>
      <p:sp>
        <p:nvSpPr>
          <p:cNvPr id="4" name="Shape 2"/>
          <p:cNvSpPr/>
          <p:nvPr/>
        </p:nvSpPr>
        <p:spPr>
          <a:xfrm>
            <a:off x="640080" y="1645920"/>
            <a:ext cx="3444240" cy="2011680"/>
          </a:xfrm>
          <a:prstGeom prst="roundRect">
            <a:avLst>
              <a:gd name="adj" fmla="val 4091"/>
            </a:avLst>
          </a:prstGeom>
          <a:solidFill>
            <a:srgbClr val="F1F3F9"/>
          </a:solidFill>
          <a:ln w="12700">
            <a:solidFill>
              <a:srgbClr val="F1F3F9"/>
            </a:solidFill>
            <a:prstDash val="solid"/>
          </a:ln>
        </p:spPr>
      </p:sp>
      <p:sp>
        <p:nvSpPr>
          <p:cNvPr id="5" name="Shape 3"/>
          <p:cNvSpPr/>
          <p:nvPr/>
        </p:nvSpPr>
        <p:spPr>
          <a:xfrm>
            <a:off x="877824" y="1883664"/>
            <a:ext cx="402336" cy="402336"/>
          </a:xfrm>
          <a:prstGeom prst="ellipse">
            <a:avLst/>
          </a:prstGeom>
          <a:solidFill>
            <a:srgbClr val="293D94"/>
          </a:solidFill>
          <a:ln w="12700">
            <a:solidFill>
              <a:srgbClr val="293D94"/>
            </a:solidFill>
            <a:prstDash val="solid"/>
          </a:ln>
        </p:spPr>
      </p:sp>
      <p:sp>
        <p:nvSpPr>
          <p:cNvPr id="6" name="Text 4"/>
          <p:cNvSpPr/>
          <p:nvPr/>
        </p:nvSpPr>
        <p:spPr>
          <a:xfrm>
            <a:off x="87782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142646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Live demo</a:t>
            </a:r>
            <a:endParaRPr lang="en-US" sz="1500" dirty="0"/>
          </a:p>
        </p:txBody>
      </p:sp>
      <p:sp>
        <p:nvSpPr>
          <p:cNvPr id="8" name="Text 6"/>
          <p:cNvSpPr/>
          <p:nvPr/>
        </p:nvSpPr>
        <p:spPr>
          <a:xfrm>
            <a:off x="142646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Pick a direction — English or Kiswahili into Ekegusii — type an announcement, get a translation with a confidence label. Runs on GPU at about a second per sentence.</a:t>
            </a:r>
            <a:endParaRPr lang="en-US" sz="1250" dirty="0"/>
          </a:p>
        </p:txBody>
      </p:sp>
      <p:sp>
        <p:nvSpPr>
          <p:cNvPr id="9" name="Shape 7"/>
          <p:cNvSpPr/>
          <p:nvPr/>
        </p:nvSpPr>
        <p:spPr>
          <a:xfrm>
            <a:off x="4358640" y="1645920"/>
            <a:ext cx="3444240" cy="2011680"/>
          </a:xfrm>
          <a:prstGeom prst="roundRect">
            <a:avLst>
              <a:gd name="adj" fmla="val 4091"/>
            </a:avLst>
          </a:prstGeom>
          <a:solidFill>
            <a:srgbClr val="FFF7DE"/>
          </a:solidFill>
          <a:ln w="12700">
            <a:solidFill>
              <a:srgbClr val="FFF7DE"/>
            </a:solidFill>
            <a:prstDash val="solid"/>
          </a:ln>
        </p:spPr>
      </p:sp>
      <p:sp>
        <p:nvSpPr>
          <p:cNvPr id="10" name="Shape 8"/>
          <p:cNvSpPr/>
          <p:nvPr/>
        </p:nvSpPr>
        <p:spPr>
          <a:xfrm>
            <a:off x="4596384" y="1883664"/>
            <a:ext cx="402336" cy="402336"/>
          </a:xfrm>
          <a:prstGeom prst="ellipse">
            <a:avLst/>
          </a:prstGeom>
          <a:solidFill>
            <a:srgbClr val="FFCA08"/>
          </a:solidFill>
          <a:ln w="12700">
            <a:solidFill>
              <a:srgbClr val="FFCA08"/>
            </a:solidFill>
            <a:prstDash val="solid"/>
          </a:ln>
        </p:spPr>
      </p:sp>
      <p:sp>
        <p:nvSpPr>
          <p:cNvPr id="11" name="Text 9"/>
          <p:cNvSpPr/>
          <p:nvPr/>
        </p:nvSpPr>
        <p:spPr>
          <a:xfrm>
            <a:off x="4596384" y="1883664"/>
            <a:ext cx="402336" cy="402336"/>
          </a:xfrm>
          <a:prstGeom prst="rect">
            <a:avLst/>
          </a:prstGeom>
          <a:noFill/>
          <a:ln/>
        </p:spPr>
        <p:txBody>
          <a:bodyPr wrap="square" lIns="0" tIns="0" rIns="0" bIns="0" rtlCol="0" anchor="ctr"/>
          <a:lstStyle/>
          <a:p>
            <a:pPr marL="0" indent="0" algn="ctr">
              <a:buNone/>
            </a:pPr>
            <a:r>
              <a:rPr lang="en-US" sz="1300" b="1" dirty="0">
                <a:solidFill>
                  <a:srgbClr val="16181D"/>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514502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Correction form</a:t>
            </a:r>
            <a:endParaRPr lang="en-US" sz="1500" dirty="0"/>
          </a:p>
        </p:txBody>
      </p:sp>
      <p:sp>
        <p:nvSpPr>
          <p:cNvPr id="13" name="Text 11"/>
          <p:cNvSpPr/>
          <p:nvPr/>
        </p:nvSpPr>
        <p:spPr>
          <a:xfrm>
            <a:off x="514502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Any Ekegusii speaker can rate a translation and type what it should have said. Every correction is both the missing human evaluation and a training pair for the next round.</a:t>
            </a:r>
            <a:endParaRPr lang="en-US" sz="1250" dirty="0"/>
          </a:p>
        </p:txBody>
      </p:sp>
      <p:sp>
        <p:nvSpPr>
          <p:cNvPr id="14" name="Shape 12"/>
          <p:cNvSpPr/>
          <p:nvPr/>
        </p:nvSpPr>
        <p:spPr>
          <a:xfrm>
            <a:off x="8077200" y="1645920"/>
            <a:ext cx="3444240" cy="2011680"/>
          </a:xfrm>
          <a:prstGeom prst="roundRect">
            <a:avLst>
              <a:gd name="adj" fmla="val 4091"/>
            </a:avLst>
          </a:prstGeom>
          <a:solidFill>
            <a:srgbClr val="F1F3F9"/>
          </a:solidFill>
          <a:ln w="12700">
            <a:solidFill>
              <a:srgbClr val="F1F3F9"/>
            </a:solidFill>
            <a:prstDash val="solid"/>
          </a:ln>
        </p:spPr>
      </p:sp>
      <p:sp>
        <p:nvSpPr>
          <p:cNvPr id="15" name="Shape 13"/>
          <p:cNvSpPr/>
          <p:nvPr/>
        </p:nvSpPr>
        <p:spPr>
          <a:xfrm>
            <a:off x="8314944" y="1883664"/>
            <a:ext cx="402336" cy="402336"/>
          </a:xfrm>
          <a:prstGeom prst="ellipse">
            <a:avLst/>
          </a:prstGeom>
          <a:solidFill>
            <a:srgbClr val="293D94"/>
          </a:solidFill>
          <a:ln w="12700">
            <a:solidFill>
              <a:srgbClr val="293D94"/>
            </a:solidFill>
            <a:prstDash val="solid"/>
          </a:ln>
        </p:spPr>
      </p:sp>
      <p:sp>
        <p:nvSpPr>
          <p:cNvPr id="16" name="Text 14"/>
          <p:cNvSpPr/>
          <p:nvPr/>
        </p:nvSpPr>
        <p:spPr>
          <a:xfrm>
            <a:off x="8314944" y="188366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p:nvPr/>
        </p:nvSpPr>
        <p:spPr>
          <a:xfrm>
            <a:off x="8863584" y="1865376"/>
            <a:ext cx="238353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Honest confidence</a:t>
            </a:r>
            <a:endParaRPr lang="en-US" sz="1500" dirty="0"/>
          </a:p>
        </p:txBody>
      </p:sp>
      <p:sp>
        <p:nvSpPr>
          <p:cNvPr id="18" name="Text 16"/>
          <p:cNvSpPr/>
          <p:nvPr/>
        </p:nvSpPr>
        <p:spPr>
          <a:xfrm>
            <a:off x="8863584" y="2194560"/>
            <a:ext cx="2383536" cy="126187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The label reports the model's own certainty, not a probability of being correct. It is uncalibrated, and the interface says so rather than implying reliability it cannot offer.</a:t>
            </a:r>
            <a:endParaRPr lang="en-US" sz="1250" dirty="0"/>
          </a:p>
        </p:txBody>
      </p:sp>
      <p:sp>
        <p:nvSpPr>
          <p:cNvPr id="19" name="Shape 17"/>
          <p:cNvSpPr/>
          <p:nvPr/>
        </p:nvSpPr>
        <p:spPr>
          <a:xfrm>
            <a:off x="640080" y="3886200"/>
            <a:ext cx="10881360" cy="1234440"/>
          </a:xfrm>
          <a:prstGeom prst="roundRect">
            <a:avLst>
              <a:gd name="adj" fmla="val 6667"/>
            </a:avLst>
          </a:prstGeom>
          <a:solidFill>
            <a:srgbClr val="F1F3F9"/>
          </a:solidFill>
          <a:ln w="12700">
            <a:solidFill>
              <a:srgbClr val="F1F3F9"/>
            </a:solidFill>
            <a:prstDash val="solid"/>
          </a:ln>
        </p:spPr>
      </p:sp>
      <p:sp>
        <p:nvSpPr>
          <p:cNvPr id="20" name="Shape 18"/>
          <p:cNvSpPr/>
          <p:nvPr/>
        </p:nvSpPr>
        <p:spPr>
          <a:xfrm>
            <a:off x="877824" y="4123944"/>
            <a:ext cx="402336" cy="402336"/>
          </a:xfrm>
          <a:prstGeom prst="ellipse">
            <a:avLst/>
          </a:prstGeom>
          <a:solidFill>
            <a:srgbClr val="293D94"/>
          </a:solidFill>
          <a:ln w="12700">
            <a:solidFill>
              <a:srgbClr val="293D94"/>
            </a:solidFill>
            <a:prstDash val="solid"/>
          </a:ln>
        </p:spPr>
      </p:sp>
      <p:sp>
        <p:nvSpPr>
          <p:cNvPr id="21" name="Text 19"/>
          <p:cNvSpPr/>
          <p:nvPr/>
        </p:nvSpPr>
        <p:spPr>
          <a:xfrm>
            <a:off x="877824" y="4123944"/>
            <a:ext cx="402336" cy="402336"/>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1426464" y="4105656"/>
            <a:ext cx="9820656" cy="292608"/>
          </a:xfrm>
          <a:prstGeom prst="rect">
            <a:avLst/>
          </a:prstGeom>
          <a:noFill/>
          <a:ln/>
        </p:spPr>
        <p:txBody>
          <a:bodyPr wrap="square" lIns="0" tIns="0" rIns="0" bIns="0" rtlCol="0" anchor="ctr"/>
          <a:lstStyle/>
          <a:p>
            <a:pPr marL="0" indent="0">
              <a:buNone/>
            </a:pPr>
            <a:r>
              <a:rPr lang="en-US" sz="1500" b="1" dirty="0">
                <a:solidFill>
                  <a:srgbClr val="16181D"/>
                </a:solidFill>
                <a:latin typeface="Calibri" pitchFamily="34" charset="0"/>
                <a:ea typeface="Calibri" pitchFamily="34" charset="-122"/>
                <a:cs typeface="Calibri" pitchFamily="34" charset="-120"/>
              </a:rPr>
              <a:t>Next: collect 100+ rated sentences from Ekegusii speakers</a:t>
            </a:r>
            <a:endParaRPr lang="en-US" sz="1500" dirty="0"/>
          </a:p>
        </p:txBody>
      </p:sp>
      <p:sp>
        <p:nvSpPr>
          <p:cNvPr id="23" name="Text 21"/>
          <p:cNvSpPr/>
          <p:nvPr/>
        </p:nvSpPr>
        <p:spPr>
          <a:xfrm>
            <a:off x="1426464" y="4434840"/>
            <a:ext cx="9820656" cy="484632"/>
          </a:xfrm>
          <a:prstGeom prst="rect">
            <a:avLst/>
          </a:prstGeom>
          <a:noFill/>
          <a:ln/>
        </p:spPr>
        <p:txBody>
          <a:bodyPr wrap="square" lIns="0" tIns="0" rIns="0" bIns="0" rtlCol="0" anchor="t"/>
          <a:lstStyle/>
          <a:p>
            <a:pPr marL="0" indent="0">
              <a:lnSpc>
                <a:spcPct val="112000"/>
              </a:lnSpc>
              <a:buNone/>
            </a:pPr>
            <a:r>
              <a:rPr lang="en-US" sz="1250" dirty="0">
                <a:solidFill>
                  <a:srgbClr val="4B5563"/>
                </a:solidFill>
                <a:latin typeface="Calibri" pitchFamily="34" charset="0"/>
                <a:ea typeface="Calibri" pitchFamily="34" charset="-122"/>
                <a:cs typeface="Calibri" pitchFamily="34" charset="-120"/>
              </a:rPr>
              <a:t>That converts the largest limitation into a result, and turns the deployment from a demonstration into a data-collection instrument.</a:t>
            </a:r>
            <a:endParaRPr lang="en-US" sz="1250" dirty="0"/>
          </a:p>
        </p:txBody>
      </p:sp>
      <p:sp>
        <p:nvSpPr>
          <p:cNvPr id="24" name="Text 22"/>
          <p:cNvSpPr/>
          <p:nvPr/>
        </p:nvSpPr>
        <p:spPr>
          <a:xfrm>
            <a:off x="640080" y="5394960"/>
            <a:ext cx="10881360" cy="365760"/>
          </a:xfrm>
          <a:prstGeom prst="rect">
            <a:avLst/>
          </a:prstGeom>
          <a:noFill/>
          <a:ln/>
        </p:spPr>
        <p:txBody>
          <a:bodyPr wrap="square" lIns="0" tIns="0" rIns="0" bIns="0" rtlCol="0" anchor="ctr"/>
          <a:lstStyle/>
          <a:p>
            <a:pPr marL="0" indent="0">
              <a:buNone/>
            </a:pPr>
            <a:r>
              <a:rPr lang="en-US" sz="1300" b="1" dirty="0">
                <a:solidFill>
                  <a:srgbClr val="293D94"/>
                </a:solidFill>
                <a:latin typeface="Calibri" pitchFamily="34" charset="0"/>
                <a:ea typeface="Calibri" pitchFamily="34" charset="-122"/>
                <a:cs typeface="Calibri" pitchFamily="34" charset="-120"/>
              </a:rPr>
              <a:t>github.com/SamAbr/public-service-anouncement-MT   ·   huggingface.co/samuelabrha</a:t>
            </a:r>
            <a:endParaRPr lang="en-US" sz="1300" dirty="0"/>
          </a:p>
        </p:txBody>
      </p:sp>
      <p:sp>
        <p:nvSpPr>
          <p:cNvPr id="25" name="Text 23"/>
          <p:cNvSpPr/>
          <p:nvPr/>
        </p:nvSpPr>
        <p:spPr>
          <a:xfrm>
            <a:off x="640080" y="6419088"/>
            <a:ext cx="5486400" cy="256032"/>
          </a:xfrm>
          <a:prstGeom prst="rect">
            <a:avLst/>
          </a:prstGeom>
          <a:noFill/>
          <a:ln/>
        </p:spPr>
        <p:txBody>
          <a:bodyPr wrap="square" lIns="0" tIns="0" rIns="0" bIns="0" rtlCol="0" anchor="ctr"/>
          <a:lstStyle/>
          <a:p>
            <a:pPr marL="0" indent="0">
              <a:buNone/>
            </a:pPr>
            <a:r>
              <a:rPr lang="en-US" sz="950" dirty="0">
                <a:solidFill>
                  <a:srgbClr val="8A919E"/>
                </a:solidFill>
                <a:latin typeface="Calibri" pitchFamily="34" charset="0"/>
                <a:ea typeface="Calibri" pitchFamily="34" charset="-122"/>
                <a:cs typeface="Calibri" pitchFamily="34" charset="-120"/>
              </a:rPr>
              <a:t>Ekegusii NMT · USIU-Africa · 2026</a:t>
            </a:r>
            <a:endParaRPr lang="en-US" sz="950" dirty="0"/>
          </a:p>
        </p:txBody>
      </p:sp>
      <p:sp>
        <p:nvSpPr>
          <p:cNvPr id="26" name="Text 24"/>
          <p:cNvSpPr/>
          <p:nvPr/>
        </p:nvSpPr>
        <p:spPr>
          <a:xfrm>
            <a:off x="10972800" y="6419088"/>
            <a:ext cx="548640" cy="256032"/>
          </a:xfrm>
          <a:prstGeom prst="rect">
            <a:avLst/>
          </a:prstGeom>
          <a:noFill/>
          <a:ln/>
        </p:spPr>
        <p:txBody>
          <a:bodyPr wrap="square" lIns="0" tIns="0" rIns="0" bIns="0" rtlCol="0" anchor="ctr"/>
          <a:lstStyle/>
          <a:p>
            <a:pPr marL="0" indent="0" algn="r">
              <a:buNone/>
            </a:pPr>
            <a:r>
              <a:rPr lang="en-US" sz="950" dirty="0">
                <a:solidFill>
                  <a:srgbClr val="8A919E"/>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93D94"/>
        </a:solidFill>
        <a:effectLst/>
      </p:bgPr>
    </p:bg>
    <p:spTree>
      <p:nvGrpSpPr>
        <p:cNvPr id="1" name=""/>
        <p:cNvGrpSpPr/>
        <p:nvPr/>
      </p:nvGrpSpPr>
      <p:grpSpPr>
        <a:xfrm>
          <a:off x="0" y="0"/>
          <a:ext cx="0" cy="0"/>
          <a:chOff x="0" y="0"/>
          <a:chExt cx="0" cy="0"/>
        </a:xfrm>
      </p:grpSpPr>
      <p:sp>
        <p:nvSpPr>
          <p:cNvPr id="2" name="Text 0"/>
          <p:cNvSpPr/>
          <p:nvPr/>
        </p:nvSpPr>
        <p:spPr>
          <a:xfrm>
            <a:off x="640080" y="1371600"/>
            <a:ext cx="9601200"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What this project shows</a:t>
            </a:r>
            <a:endParaRPr lang="en-US" sz="3000" dirty="0"/>
          </a:p>
        </p:txBody>
      </p:sp>
      <p:sp>
        <p:nvSpPr>
          <p:cNvPr id="3" name="Shape 1"/>
          <p:cNvSpPr/>
          <p:nvPr/>
        </p:nvSpPr>
        <p:spPr>
          <a:xfrm>
            <a:off x="640080" y="2340864"/>
            <a:ext cx="310896" cy="310896"/>
          </a:xfrm>
          <a:prstGeom prst="ellipse">
            <a:avLst/>
          </a:prstGeom>
          <a:solidFill>
            <a:srgbClr val="FFCA08"/>
          </a:solidFill>
          <a:ln w="12700">
            <a:solidFill>
              <a:srgbClr val="FFCA08"/>
            </a:solidFill>
            <a:prstDash val="solid"/>
          </a:ln>
        </p:spPr>
      </p:sp>
      <p:sp>
        <p:nvSpPr>
          <p:cNvPr id="4" name="Text 2"/>
          <p:cNvSpPr/>
          <p:nvPr/>
        </p:nvSpPr>
        <p:spPr>
          <a:xfrm>
            <a:off x="640080" y="234086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1</a:t>
            </a:r>
            <a:endParaRPr lang="en-US" sz="1200" dirty="0"/>
          </a:p>
        </p:txBody>
      </p:sp>
      <p:sp>
        <p:nvSpPr>
          <p:cNvPr id="5" name="Text 3"/>
          <p:cNvSpPr/>
          <p:nvPr/>
        </p:nvSpPr>
        <p:spPr>
          <a:xfrm>
            <a:off x="1207008" y="226771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Transfer learning can add a language a large multilingual model has never seen. A few tens of thousands of parallel sentences and a well-chosen embedding seed are enough.</a:t>
            </a:r>
            <a:endParaRPr lang="en-US" sz="1500" dirty="0"/>
          </a:p>
        </p:txBody>
      </p:sp>
      <p:sp>
        <p:nvSpPr>
          <p:cNvPr id="6" name="Shape 4"/>
          <p:cNvSpPr/>
          <p:nvPr/>
        </p:nvSpPr>
        <p:spPr>
          <a:xfrm>
            <a:off x="640080" y="3392424"/>
            <a:ext cx="310896" cy="310896"/>
          </a:xfrm>
          <a:prstGeom prst="ellipse">
            <a:avLst/>
          </a:prstGeom>
          <a:solidFill>
            <a:srgbClr val="FFCA08"/>
          </a:solidFill>
          <a:ln w="12700">
            <a:solidFill>
              <a:srgbClr val="FFCA08"/>
            </a:solidFill>
            <a:prstDash val="solid"/>
          </a:ln>
        </p:spPr>
      </p:sp>
      <p:sp>
        <p:nvSpPr>
          <p:cNvPr id="7" name="Text 5"/>
          <p:cNvSpPr/>
          <p:nvPr/>
        </p:nvSpPr>
        <p:spPr>
          <a:xfrm>
            <a:off x="640080" y="339242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2</a:t>
            </a:r>
            <a:endParaRPr lang="en-US" sz="1200" dirty="0"/>
          </a:p>
        </p:txBody>
      </p:sp>
      <p:sp>
        <p:nvSpPr>
          <p:cNvPr id="8" name="Text 6"/>
          <p:cNvSpPr/>
          <p:nvPr/>
        </p:nvSpPr>
        <p:spPr>
          <a:xfrm>
            <a:off x="1207008" y="331927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Domain adaptation matters as much as language coverage: scripture teaches Ekegusii, but not the voice of a public notice.</a:t>
            </a:r>
            <a:endParaRPr lang="en-US" sz="1500" dirty="0"/>
          </a:p>
        </p:txBody>
      </p:sp>
      <p:sp>
        <p:nvSpPr>
          <p:cNvPr id="9" name="Shape 7"/>
          <p:cNvSpPr/>
          <p:nvPr/>
        </p:nvSpPr>
        <p:spPr>
          <a:xfrm>
            <a:off x="640080" y="4443984"/>
            <a:ext cx="310896" cy="310896"/>
          </a:xfrm>
          <a:prstGeom prst="ellipse">
            <a:avLst/>
          </a:prstGeom>
          <a:solidFill>
            <a:srgbClr val="FFCA08"/>
          </a:solidFill>
          <a:ln w="12700">
            <a:solidFill>
              <a:srgbClr val="FFCA08"/>
            </a:solidFill>
            <a:prstDash val="solid"/>
          </a:ln>
        </p:spPr>
      </p:sp>
      <p:sp>
        <p:nvSpPr>
          <p:cNvPr id="10" name="Text 8"/>
          <p:cNvSpPr/>
          <p:nvPr/>
        </p:nvSpPr>
        <p:spPr>
          <a:xfrm>
            <a:off x="640080" y="4443984"/>
            <a:ext cx="310896" cy="310896"/>
          </a:xfrm>
          <a:prstGeom prst="rect">
            <a:avLst/>
          </a:prstGeom>
          <a:noFill/>
          <a:ln/>
        </p:spPr>
        <p:txBody>
          <a:bodyPr wrap="square" lIns="0" tIns="0" rIns="0" bIns="0" rtlCol="0" anchor="ctr"/>
          <a:lstStyle/>
          <a:p>
            <a:pPr marL="0" indent="0" algn="ctr">
              <a:buNone/>
            </a:pPr>
            <a:r>
              <a:rPr lang="en-US" sz="1200" b="1" dirty="0">
                <a:solidFill>
                  <a:srgbClr val="16181D"/>
                </a:solidFill>
                <a:latin typeface="Calibri" pitchFamily="34" charset="0"/>
                <a:ea typeface="Calibri" pitchFamily="34" charset="-122"/>
                <a:cs typeface="Calibri" pitchFamily="34" charset="-120"/>
              </a:rPr>
              <a:t>3</a:t>
            </a:r>
            <a:endParaRPr lang="en-US" sz="1200" dirty="0"/>
          </a:p>
        </p:txBody>
      </p:sp>
      <p:sp>
        <p:nvSpPr>
          <p:cNvPr id="11" name="Text 9"/>
          <p:cNvSpPr/>
          <p:nvPr/>
        </p:nvSpPr>
        <p:spPr>
          <a:xfrm>
            <a:off x="1207008" y="4370832"/>
            <a:ext cx="10332720" cy="868680"/>
          </a:xfrm>
          <a:prstGeom prst="rect">
            <a:avLst/>
          </a:prstGeom>
          <a:noFill/>
          <a:ln/>
        </p:spPr>
        <p:txBody>
          <a:bodyPr wrap="square" lIns="0" tIns="0" rIns="0" bIns="0" rtlCol="0" anchor="t"/>
          <a:lstStyle/>
          <a:p>
            <a:pPr marL="0" indent="0">
              <a:lnSpc>
                <a:spcPct val="118000"/>
              </a:lnSpc>
              <a:buNone/>
            </a:pPr>
            <a:r>
              <a:rPr lang="en-US" sz="1500" dirty="0">
                <a:solidFill>
                  <a:srgbClr val="D5DCF4"/>
                </a:solidFill>
                <a:latin typeface="Calibri" pitchFamily="34" charset="0"/>
                <a:ea typeface="Calibri" pitchFamily="34" charset="-122"/>
                <a:cs typeface="Calibri" pitchFamily="34" charset="-120"/>
              </a:rPr>
              <a:t>The control mattered more than the hypothesis. Testing the curriculum properly is what makes the released number worth believing.</a:t>
            </a:r>
            <a:endParaRPr lang="en-US" sz="1500" dirty="0"/>
          </a:p>
        </p:txBody>
      </p:sp>
      <p:sp>
        <p:nvSpPr>
          <p:cNvPr id="12" name="Text 10"/>
          <p:cNvSpPr/>
          <p:nvPr/>
        </p:nvSpPr>
        <p:spPr>
          <a:xfrm>
            <a:off x="640080" y="5742432"/>
            <a:ext cx="10881360" cy="292608"/>
          </a:xfrm>
          <a:prstGeom prst="rect">
            <a:avLst/>
          </a:prstGeom>
          <a:noFill/>
          <a:ln/>
        </p:spPr>
        <p:txBody>
          <a:bodyPr wrap="square" lIns="0" tIns="0" rIns="0" bIns="0" rtlCol="0" anchor="ctr"/>
          <a:lstStyle/>
          <a:p>
            <a:pPr marL="0" indent="0">
              <a:buNone/>
            </a:pPr>
            <a:r>
              <a:rPr lang="en-US" sz="1250" dirty="0">
                <a:solidFill>
                  <a:srgbClr val="C9D2F0"/>
                </a:solidFill>
                <a:latin typeface="Calibri" pitchFamily="34" charset="0"/>
                <a:ea typeface="Calibri" pitchFamily="34" charset="-122"/>
                <a:cs typeface="Calibri" pitchFamily="34" charset="-120"/>
              </a:rPr>
              <a:t>Weldesenbet Zeray  ·  Samuel Abrha  ·  Hetal Kumbharana  ·  Halima Mohammed  ·  Peter Kidiga  ·  Mitchelle Moraa</a:t>
            </a:r>
            <a:endParaRPr lang="en-US" sz="1250" dirty="0"/>
          </a:p>
        </p:txBody>
      </p:sp>
      <p:sp>
        <p:nvSpPr>
          <p:cNvPr id="13" name="Text 11"/>
          <p:cNvSpPr/>
          <p:nvPr/>
        </p:nvSpPr>
        <p:spPr>
          <a:xfrm>
            <a:off x="640080" y="6035040"/>
            <a:ext cx="10881360" cy="292608"/>
          </a:xfrm>
          <a:prstGeom prst="rect">
            <a:avLst/>
          </a:prstGeom>
          <a:noFill/>
          <a:ln/>
        </p:spPr>
        <p:txBody>
          <a:bodyPr wrap="square" lIns="0" tIns="0" rIns="0" bIns="0" rtlCol="0" anchor="ctr"/>
          <a:lstStyle/>
          <a:p>
            <a:pPr marL="0" indent="0">
              <a:buNone/>
            </a:pPr>
            <a:r>
              <a:rPr lang="en-US" sz="1250" dirty="0">
                <a:solidFill>
                  <a:srgbClr val="9AA8D8"/>
                </a:solidFill>
                <a:latin typeface="Calibri" pitchFamily="34" charset="0"/>
                <a:ea typeface="Calibri" pitchFamily="34" charset="-122"/>
                <a:cs typeface="Calibri" pitchFamily="34" charset="-120"/>
              </a:rPr>
              <a:t>Supervisor: Prof. Edward Ombui  ·  USIU-Africa, 2026</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1546</TotalTime>
  <Words>2744</Words>
  <Application>Microsoft Office PowerPoint</Application>
  <PresentationFormat>Widescreen</PresentationFormat>
  <Paragraphs>372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NMT for Kenyan Public Service Announcements</dc:title>
  <dc:subject>PptxGenJS Presentation</dc:subject>
  <dc:creator>Weldesenbet Zeray, Samuel Abrha, Hetal Kumbharana, Halima Mohammed, Peter Kidiga, Mitchelle Moraa</dc:creator>
  <cp:lastModifiedBy>Samuel Abrha</cp:lastModifiedBy>
  <cp:revision>3</cp:revision>
  <dcterms:created xsi:type="dcterms:W3CDTF">2026-08-13T15:31:47Z</dcterms:created>
  <dcterms:modified xsi:type="dcterms:W3CDTF">2026-08-16T14:00:38Z</dcterms:modified>
</cp:coreProperties>
</file>